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6" autoCompressPictures="0">
  <p:sldMasterIdLst>
    <p:sldMasterId id="2147483648" r:id="rId1"/>
  </p:sldMasterIdLst>
  <p:notesMasterIdLst>
    <p:notesMasterId r:id="rId7"/>
  </p:notesMasterIdLst>
  <p:sldIdLst>
    <p:sldId id="286" r:id="rId3"/>
    <p:sldId id="261" r:id="rId4"/>
    <p:sldId id="262" r:id="rId5"/>
    <p:sldId id="263" r:id="rId6"/>
    <p:sldId id="264" r:id="rId8"/>
    <p:sldId id="292" r:id="rId9"/>
    <p:sldId id="285" r:id="rId10"/>
    <p:sldId id="265" r:id="rId11"/>
    <p:sldId id="275" r:id="rId12"/>
    <p:sldId id="266" r:id="rId13"/>
    <p:sldId id="267" r:id="rId14"/>
    <p:sldId id="270" r:id="rId15"/>
    <p:sldId id="284" r:id="rId16"/>
    <p:sldId id="290" r:id="rId17"/>
    <p:sldId id="291" r:id="rId18"/>
    <p:sldId id="269" r:id="rId19"/>
    <p:sldId id="276" r:id="rId20"/>
    <p:sldId id="277" r:id="rId21"/>
    <p:sldId id="287" r:id="rId22"/>
    <p:sldId id="288" r:id="rId23"/>
    <p:sldId id="289" r:id="rId24"/>
    <p:sldId id="272" r:id="rId25"/>
    <p:sldId id="281" r:id="rId26"/>
    <p:sldId id="273" r:id="rId27"/>
    <p:sldId id="27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99FF"/>
    <a:srgbClr val="2FB8BF"/>
    <a:srgbClr val="660033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DA59A-B59C-4E2C-B3DF-71C647475E9A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98646-D976-437B-8798-860357D0AE0C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fr-FR" dirty="0"/>
              <a:t>Dans un contexte de mondialisation et de forte mobilit</a:t>
            </a:r>
            <a:r>
              <a:rPr lang="en-US" altLang="en-US" dirty="0"/>
              <a:t>é</a:t>
            </a:r>
            <a:r>
              <a:rPr lang="en-US" altLang="fr-FR" dirty="0"/>
              <a:t> internationale, la gestion des visas repr</a:t>
            </a:r>
            <a:r>
              <a:rPr lang="en-US" altLang="en-US" dirty="0"/>
              <a:t>é</a:t>
            </a:r>
            <a:r>
              <a:rPr lang="en-US" altLang="fr-FR" dirty="0"/>
              <a:t>sente un d</a:t>
            </a:r>
            <a:r>
              <a:rPr lang="en-US" altLang="en-US" dirty="0"/>
              <a:t>é</a:t>
            </a:r>
            <a:r>
              <a:rPr lang="en-US" altLang="fr-FR" dirty="0"/>
              <a:t>fi important pour les </a:t>
            </a:r>
            <a:r>
              <a:rPr lang="" altLang="en-US" dirty="0"/>
              <a:t>É</a:t>
            </a:r>
            <a:r>
              <a:rPr lang="en-US" altLang="fr-FR" dirty="0"/>
              <a:t>tats, notamment en termes d’efficacit</a:t>
            </a:r>
            <a:r>
              <a:rPr lang="en-US" altLang="en-US" dirty="0"/>
              <a:t>é</a:t>
            </a:r>
            <a:r>
              <a:rPr lang="en-US" altLang="fr-FR" dirty="0"/>
              <a:t> et de s</a:t>
            </a:r>
            <a:r>
              <a:rPr lang="en-US" altLang="en-US" dirty="0"/>
              <a:t>é</a:t>
            </a:r>
            <a:r>
              <a:rPr lang="en-US" altLang="fr-FR" dirty="0"/>
              <a:t>curit</a:t>
            </a:r>
            <a:r>
              <a:rPr lang="en-US" altLang="en-US" dirty="0"/>
              <a:t>é</a:t>
            </a:r>
            <a:r>
              <a:rPr lang="en-US" altLang="fr-FR" dirty="0"/>
              <a:t>. Les m</a:t>
            </a:r>
            <a:r>
              <a:rPr lang="en-US" altLang="en-US" dirty="0"/>
              <a:t>é</a:t>
            </a:r>
            <a:r>
              <a:rPr lang="en-US" altLang="fr-FR" dirty="0"/>
              <a:t>thodes traditionnelles, souvent manuelles, sont limit</a:t>
            </a:r>
            <a:r>
              <a:rPr lang="en-US" altLang="en-US" dirty="0"/>
              <a:t>é</a:t>
            </a:r>
            <a:r>
              <a:rPr lang="en-US" altLang="fr-FR" dirty="0"/>
              <a:t>es par leur lenteur et les risques d’erreurs.</a:t>
            </a:r>
            <a:endParaRPr lang="en-US" altLang="fr-FR" dirty="0"/>
          </a:p>
          <a:p>
            <a:r>
              <a:rPr lang="en-US" altLang="fr-FR" dirty="0"/>
              <a:t>Face à ces limites, les solutions num</a:t>
            </a:r>
            <a:r>
              <a:rPr lang="en-US" altLang="en-US" dirty="0"/>
              <a:t>é</a:t>
            </a:r>
            <a:r>
              <a:rPr lang="en-US" altLang="fr-FR" dirty="0"/>
              <a:t>riques comme les syst</a:t>
            </a:r>
            <a:r>
              <a:rPr lang="" altLang="en-US" dirty="0"/>
              <a:t>è</a:t>
            </a:r>
            <a:r>
              <a:rPr lang="en-US" altLang="fr-FR" dirty="0"/>
              <a:t>mes d’e-visa s’imposent comme une alternative moderne. Au Cameroun, la mise en place d’une telle solution permettrait d’am</a:t>
            </a:r>
            <a:r>
              <a:rPr lang="en-US" altLang="en-US" dirty="0"/>
              <a:t>é</a:t>
            </a:r>
            <a:r>
              <a:rPr lang="en-US" altLang="fr-FR" dirty="0"/>
              <a:t>liorer le traitement des demandes et l’exp</a:t>
            </a:r>
            <a:r>
              <a:rPr lang="en-US" altLang="en-US" dirty="0"/>
              <a:t>é</a:t>
            </a:r>
            <a:r>
              <a:rPr lang="en-US" altLang="fr-FR" dirty="0"/>
              <a:t>rience des usagers, tout en renfor</a:t>
            </a:r>
            <a:r>
              <a:rPr lang="" altLang="en-US" dirty="0"/>
              <a:t>ç</a:t>
            </a:r>
            <a:r>
              <a:rPr lang="en-US" altLang="fr-FR" dirty="0"/>
              <a:t>ant la s</a:t>
            </a:r>
            <a:r>
              <a:rPr lang="en-US" altLang="en-US" dirty="0"/>
              <a:t>é</a:t>
            </a:r>
            <a:r>
              <a:rPr lang="en-US" altLang="fr-FR" dirty="0"/>
              <a:t>curit</a:t>
            </a:r>
            <a:r>
              <a:rPr lang="en-US" altLang="en-US" dirty="0"/>
              <a:t>é</a:t>
            </a:r>
            <a:r>
              <a:rPr lang="en-US" altLang="fr-FR" dirty="0"/>
              <a:t> gr</a:t>
            </a:r>
            <a:r>
              <a:rPr lang="en-US" altLang="en-US" dirty="0"/>
              <a:t>â</a:t>
            </a:r>
            <a:r>
              <a:rPr lang="en-US" altLang="fr-FR" dirty="0"/>
              <a:t>ce à l’int</a:t>
            </a:r>
            <a:r>
              <a:rPr lang="en-US" altLang="en-US" dirty="0"/>
              <a:t>é</a:t>
            </a:r>
            <a:r>
              <a:rPr lang="en-US" altLang="fr-FR" dirty="0"/>
              <a:t>gration de la biom</a:t>
            </a:r>
            <a:r>
              <a:rPr lang="en-US" altLang="en-US" dirty="0"/>
              <a:t>é</a:t>
            </a:r>
            <a:r>
              <a:rPr lang="en-US" altLang="fr-FR" dirty="0"/>
              <a:t>trie.</a:t>
            </a:r>
            <a:endParaRPr lang="en-US" altLang="fr-FR" dirty="0"/>
          </a:p>
          <a:p>
            <a:r>
              <a:rPr lang="en-US" altLang="fr-FR" dirty="0"/>
              <a:t>C’est dans ce cadre que s’inscrit notre projet, qui consiste à concevoir et r</a:t>
            </a:r>
            <a:r>
              <a:rPr lang="en-US" altLang="en-US" dirty="0"/>
              <a:t>é</a:t>
            </a:r>
            <a:r>
              <a:rPr lang="en-US" altLang="fr-FR" dirty="0"/>
              <a:t>aliser une application web d’e-visa. Cette plateforme permet aux utilisateurs de faire leurs demandes en ligne et offre aux autorit</a:t>
            </a:r>
            <a:r>
              <a:rPr lang="en-US" altLang="en-US" dirty="0"/>
              <a:t>é</a:t>
            </a:r>
            <a:r>
              <a:rPr lang="en-US" altLang="fr-FR" dirty="0"/>
              <a:t>s un outil efficace de gestion et de validation des dossiers.</a:t>
            </a:r>
            <a:endParaRPr lang="en-US" alt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98646-D976-437B-8798-860357D0AE0C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</a:t>
            </a:r>
            <a:r>
              <a:rPr lang="fr-FR" dirty="0" err="1"/>
              <a:t>camerooun</a:t>
            </a:r>
            <a:r>
              <a:rPr lang="fr-FR" dirty="0"/>
              <a:t> radio </a:t>
            </a:r>
            <a:r>
              <a:rPr lang="fr-FR" dirty="0" err="1"/>
              <a:t>television</a:t>
            </a:r>
            <a:r>
              <a:rPr lang="fr-FR" dirty="0"/>
              <a:t> est une entreprise parapublique qui fait dans la l’audio visuel. Elle est née le 25 janvier 1988  de la loi n° 871020 ayant pour directeur 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98646-D976-437B-8798-860357D0AE0C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fr-FR" dirty="0"/>
              <a:t>La probl</a:t>
            </a:r>
            <a:r>
              <a:rPr lang="en-US" altLang="en-US" dirty="0"/>
              <a:t>é</a:t>
            </a:r>
            <a:r>
              <a:rPr lang="en-US" altLang="fr-FR" dirty="0"/>
              <a:t>matique trait</a:t>
            </a:r>
            <a:r>
              <a:rPr lang="en-US" altLang="en-US" dirty="0"/>
              <a:t>é</a:t>
            </a:r>
            <a:r>
              <a:rPr lang="en-US" altLang="fr-FR" dirty="0"/>
              <a:t>e dans ce m</a:t>
            </a:r>
            <a:r>
              <a:rPr lang="en-US" altLang="en-US" dirty="0"/>
              <a:t>é</a:t>
            </a:r>
            <a:r>
              <a:rPr lang="en-US" altLang="fr-FR" dirty="0"/>
              <a:t>moire portera sur la num</a:t>
            </a:r>
            <a:r>
              <a:rPr lang="en-US" altLang="en-US" dirty="0"/>
              <a:t>é</a:t>
            </a:r>
            <a:r>
              <a:rPr lang="en-US" altLang="fr-FR" dirty="0"/>
              <a:t>risation, l</a:t>
            </a:r>
            <a:r>
              <a:rPr lang="fr-FR" altLang="en-US" dirty="0"/>
              <a:t>’</a:t>
            </a:r>
            <a:r>
              <a:rPr lang="en-US" altLang="fr-FR" dirty="0"/>
              <a:t>archivage et la tra</a:t>
            </a:r>
            <a:r>
              <a:rPr lang="en-US" altLang="en-US" dirty="0"/>
              <a:t>ç</a:t>
            </a:r>
            <a:r>
              <a:rPr lang="en-US" altLang="fr-FR" dirty="0"/>
              <a:t>abilit</a:t>
            </a:r>
            <a:r>
              <a:rPr lang="en-US" altLang="en-US" dirty="0"/>
              <a:t>é</a:t>
            </a:r>
            <a:r>
              <a:rPr lang="en-US" altLang="fr-FR" dirty="0"/>
              <a:t> de l’information, un traitement rapide et plus efficace des demandes de visa, autrement dit, nous nous interrogeons sur</a:t>
            </a:r>
            <a:r>
              <a:rPr lang="fr-FR" altLang="en-US" dirty="0"/>
              <a:t>:</a:t>
            </a:r>
            <a:endParaRPr lang="fr-FR" alt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98646-D976-437B-8798-860357D0AE0C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Pour résoudre l’ensemble des problèmes énumères plus haut et combler les manquements dans la gestion </a:t>
            </a:r>
            <a:r>
              <a:rPr lang="fr-FR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du systeme e-visa pour la republique du cameroun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nous avons proposé </a:t>
            </a:r>
            <a:r>
              <a:rPr lang="fr-FR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comme objectifs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de: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98646-D976-437B-8798-860357D0AE0C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Unified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Modeling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Language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est un langage de modélisation orienté objet graphique basé sur des diagramme.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Nous avons opté pour ce langage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parceque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7620" lvl="0" indent="-342900" algn="just" fontAlgn="base">
              <a:lnSpc>
                <a:spcPct val="150000"/>
              </a:lnSpc>
              <a:spcAft>
                <a:spcPts val="45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UML est basé sur l’approche objet ; </a:t>
            </a:r>
            <a:endParaRPr lang="en-US" sz="18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50000"/>
              </a:lnSpc>
              <a:spcAft>
                <a:spcPts val="45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UML est un langage centré sur les besoins des utilisateurs ; </a:t>
            </a:r>
            <a:endParaRPr lang="en-US" sz="18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50000"/>
              </a:lnSpc>
              <a:spcAft>
                <a:spcPts val="41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UML associe les données et les traitements ; </a:t>
            </a:r>
            <a:endParaRPr lang="en-US" sz="18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98646-D976-437B-8798-860357D0AE0C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C’est un cycle de développement en Y qui dissocie les aspects techniques des aspects fonctionnels. 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Nous avons opté pour ce processus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parceque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342900" marR="7620" lvl="0" indent="-342900" algn="just" fontAlgn="base">
              <a:lnSpc>
                <a:spcPct val="150000"/>
              </a:lnSpc>
              <a:spcAft>
                <a:spcPts val="38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2TUP facilite la modélisation des systèmes complexes destinés à subir plusieurs évolutions ; </a:t>
            </a:r>
            <a:endParaRPr lang="en-US" sz="18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50000"/>
              </a:lnSpc>
              <a:spcAft>
                <a:spcPts val="110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2TUP est un processus basé sur l’approche objet et est construit sur UML ; </a:t>
            </a:r>
            <a:endParaRPr lang="en-US" sz="18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7620" lvl="0" indent="-342900" algn="just" fontAlgn="base">
              <a:lnSpc>
                <a:spcPct val="150000"/>
              </a:lnSpc>
              <a:spcAft>
                <a:spcPts val="16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2TUP est incrémental, itératif, piloté par les risques, orienté composant, orienté utilisateur ; </a:t>
            </a:r>
            <a:endParaRPr lang="en-US" sz="18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98646-D976-437B-8798-860357D0AE0C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8915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fr-FR"/>
              <a:t>ADMINISTRATEUR : responsable technique de la plateforme </a:t>
            </a:r>
            <a:endParaRPr lang="fr-FR"/>
          </a:p>
          <a:p>
            <a:r>
              <a:rPr lang="fr-FR"/>
              <a:t>DEMANDEURS : citoyen etranger souhaitant obtenir un e-visa pour le cameroun</a:t>
            </a:r>
            <a:endParaRPr lang="fr-FR"/>
          </a:p>
          <a:p>
            <a:r>
              <a:rPr lang="fr-FR"/>
              <a:t>AMBASSADE: representations diplomatique du cameroun a l’etranger</a:t>
            </a:r>
            <a:endParaRPr lang="fr-FR"/>
          </a:p>
          <a:p>
            <a:r>
              <a:rPr lang="fr-FR"/>
              <a:t>AGENTS AUX CONTROLES FRONTIERES: </a:t>
            </a:r>
            <a:r>
              <a:rPr lang="en-US" altLang="fr-FR"/>
              <a:t>Personnel aux points d'entr</a:t>
            </a:r>
            <a:r>
              <a:rPr lang="en-US" altLang="en-US"/>
              <a:t>é</a:t>
            </a:r>
            <a:r>
              <a:rPr lang="en-US" altLang="fr-FR"/>
              <a:t>e (a</a:t>
            </a:r>
            <a:r>
              <a:rPr lang="en-US" altLang="en-US"/>
              <a:t>é</a:t>
            </a:r>
            <a:r>
              <a:rPr lang="en-US" altLang="fr-FR"/>
              <a:t>roports,postes fronti</a:t>
            </a:r>
            <a:r>
              <a:rPr lang="en-US" altLang="en-US"/>
              <a:t>è</a:t>
            </a:r>
            <a:r>
              <a:rPr lang="en-US" altLang="fr-FR"/>
              <a:t>res).</a:t>
            </a:r>
            <a:endParaRPr lang="en-US" altLang="fr-FR"/>
          </a:p>
          <a:p>
            <a:r>
              <a:rPr lang="fr-FR" altLang="en-US"/>
              <a:t>AGENTS D’IMMIGRATION : </a:t>
            </a:r>
            <a:r>
              <a:rPr lang="en-US" altLang="fr-FR"/>
              <a:t>Personnel du Minist</a:t>
            </a:r>
            <a:r>
              <a:rPr lang="en-US" altLang="en-US"/>
              <a:t>è</a:t>
            </a:r>
            <a:r>
              <a:rPr lang="en-US" altLang="fr-FR"/>
              <a:t>re de l'Immigration</a:t>
            </a:r>
            <a:endParaRPr lang="en-US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</a:t>
            </a:r>
            <a:r>
              <a:rPr lang="en-US" dirty="0" err="1"/>
              <a:t>role</a:t>
            </a:r>
            <a:r>
              <a:rPr lang="en-US" dirty="0"/>
              <a:t>  est de recueillir, d’analyser et d’organiser les besoins ainsi que de recenser les grandes </a:t>
            </a:r>
            <a:r>
              <a:rPr lang="en-US" dirty="0" err="1"/>
              <a:t>fonctionnalites</a:t>
            </a:r>
            <a:r>
              <a:rPr lang="en-US" dirty="0"/>
              <a:t> du </a:t>
            </a:r>
            <a:r>
              <a:rPr lang="en-US" dirty="0" err="1"/>
              <a:t>systeme</a:t>
            </a:r>
            <a:r>
              <a:rPr lang="fr-FR" altLang="en-US" dirty="0" err="1"/>
              <a:t>.</a:t>
            </a:r>
            <a:endParaRPr lang="fr-FR" altLang="en-US" dirty="0" err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98646-D976-437B-8798-860357D0AE0C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</a:t>
            </a:r>
            <a:r>
              <a:rPr lang="en-US" dirty="0" err="1"/>
              <a:t>role</a:t>
            </a:r>
            <a:r>
              <a:rPr lang="en-US" dirty="0"/>
              <a:t> est de </a:t>
            </a:r>
            <a:r>
              <a:rPr lang="en-US" dirty="0" err="1"/>
              <a:t>mettreben</a:t>
            </a:r>
            <a:r>
              <a:rPr lang="en-US" dirty="0"/>
              <a:t> valeur les </a:t>
            </a:r>
            <a:r>
              <a:rPr lang="en-US" dirty="0" err="1"/>
              <a:t>echanges</a:t>
            </a:r>
            <a:r>
              <a:rPr lang="en-US" dirty="0"/>
              <a:t> de messages entre acteurs et objets de manière chronologique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98646-D976-437B-8798-860357D0AE0C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exprime la structuration statique du système en terme de classe et de relation en </a:t>
            </a:r>
            <a:r>
              <a:rPr lang="en-US" dirty="0" err="1"/>
              <a:t>tre</a:t>
            </a:r>
            <a:r>
              <a:rPr lang="en-US" dirty="0"/>
              <a:t> ces classes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98646-D976-437B-8798-860357D0AE0C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</a:t>
            </a:r>
            <a:r>
              <a:rPr lang="en-US" dirty="0" err="1"/>
              <a:t>role</a:t>
            </a:r>
            <a:r>
              <a:rPr lang="en-US" dirty="0"/>
              <a:t> est </a:t>
            </a:r>
            <a:r>
              <a:rPr lang="fr-FR" altLang="en-US" dirty="0"/>
              <a:t>de representer la structure et les relations entre les composants d’un systeme logiciel</a:t>
            </a:r>
            <a:endParaRPr lang="fr-FR" alt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98646-D976-437B-8798-860357D0AE0C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Html5: langages de structuration des pages web</a:t>
            </a:r>
            <a:endParaRPr lang="en-US" dirty="0"/>
          </a:p>
          <a:p>
            <a:r>
              <a:rPr lang="en-US" dirty="0"/>
              <a:t>Css3: outils de mise en formes et d’embellissement des pages web</a:t>
            </a:r>
            <a:endParaRPr lang="en-US" dirty="0"/>
          </a:p>
          <a:p>
            <a:r>
              <a:rPr lang="en-US" dirty="0"/>
              <a:t>Bootstrap: outils utiles à la </a:t>
            </a:r>
            <a:r>
              <a:rPr lang="en-US" dirty="0" err="1"/>
              <a:t>creation</a:t>
            </a:r>
            <a:r>
              <a:rPr lang="en-US" dirty="0"/>
              <a:t> du design de sites et d’application web</a:t>
            </a:r>
            <a:endParaRPr lang="en-US" dirty="0"/>
          </a:p>
          <a:p>
            <a:r>
              <a:rPr lang="en-US" dirty="0"/>
              <a:t>Font </a:t>
            </a:r>
            <a:r>
              <a:rPr lang="en-US" dirty="0" err="1"/>
              <a:t>awesome</a:t>
            </a:r>
            <a:r>
              <a:rPr lang="en-US" dirty="0"/>
              <a:t>; est une police d’</a:t>
            </a:r>
            <a:r>
              <a:rPr lang="en-US" dirty="0" err="1"/>
              <a:t>ecriture</a:t>
            </a:r>
            <a:r>
              <a:rPr lang="en-US" dirty="0"/>
              <a:t> et un outils d’icone qui se base sur </a:t>
            </a:r>
            <a:r>
              <a:rPr lang="en-US" dirty="0" err="1"/>
              <a:t>css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98646-D976-437B-8798-860357D0AE0C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 projet pouvant être nettement plus amélioré, comme perspectives, nous pouvons y apporter des améliorations techniques telles que : 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"/>
            </a:pPr>
            <a:r>
              <a:rPr lang="en-US" alt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l’int</a:t>
            </a:r>
            <a:r>
              <a:rPr lang="en-US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en-US" alt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gration de solutions de paiement en ligne plus diversifi</a:t>
            </a:r>
            <a:r>
              <a:rPr lang="en-US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en-US" alt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fr-FR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altLang="fr-FR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"/>
            </a:pPr>
            <a:r>
              <a:rPr lang="fr-FR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alt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’extension du syst</a:t>
            </a:r>
            <a:r>
              <a:rPr lang="en-US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è</a:t>
            </a:r>
            <a:r>
              <a:rPr lang="en-US" alt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 à d’autres services administratifs</a:t>
            </a:r>
            <a:r>
              <a:rPr lang="fr-FR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fr-FR" alt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"/>
            </a:pPr>
            <a:r>
              <a:rPr lang="en-US" alt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renforcement des m</a:t>
            </a:r>
            <a:r>
              <a:rPr lang="en-US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en-US" alt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canismes de s</a:t>
            </a:r>
            <a:r>
              <a:rPr lang="en-US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en-US" alt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curit</a:t>
            </a:r>
            <a:r>
              <a:rPr lang="en-US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en-US" alt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travers des technologies </a:t>
            </a:r>
            <a:r>
              <a:rPr lang="en-US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en-US" alt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mergentes comme l’intelligence artificielle. En somme</a:t>
            </a:r>
            <a:endParaRPr lang="en-US" altLang="fr-FR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98646-D976-437B-8798-860357D0AE0C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image" Target="../media/image9.GIF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image" Target="../media/image10.jpe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image" Target="../media/image12.GIF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GIF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jpeg"/><Relationship Id="rId8" Type="http://schemas.openxmlformats.org/officeDocument/2006/relationships/image" Target="../media/image26.png"/><Relationship Id="rId7" Type="http://schemas.openxmlformats.org/officeDocument/2006/relationships/image" Target="../media/image2.png"/><Relationship Id="rId6" Type="http://schemas.openxmlformats.org/officeDocument/2006/relationships/image" Target="../media/image1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image" Target="../media/image31.jpeg"/><Relationship Id="rId1" Type="http://schemas.openxmlformats.org/officeDocument/2006/relationships/image" Target="../media/image3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719618" y="3109247"/>
            <a:ext cx="9007521" cy="1445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lgerian" panose="04020705040A02060702" pitchFamily="82" charset="0"/>
              </a:rPr>
              <a:t>BIENVENUE A LA VALIDATION DE MON MEMOIRE</a:t>
            </a:r>
            <a:endParaRPr lang="fr-FR" sz="4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3293360"/>
            <a:ext cx="11029616" cy="878531"/>
          </a:xfrm>
        </p:spPr>
        <p:txBody>
          <a:bodyPr>
            <a:normAutofit fontScale="90000"/>
          </a:bodyPr>
          <a:lstStyle/>
          <a:p>
            <a:pPr algn="ctr"/>
            <a:br>
              <a:rPr lang="fr-FR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Effectué du 02  FEVRIER au 03 JUILLET 2026,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 vue de l’obtention du Diplôme d’Ingenieur de l’Ecole Nationale Superieure Polytechnique de Douala  </a:t>
            </a:r>
            <a:br>
              <a:rPr lang="fr-FR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RÉDIGÉ PAR: MESSANGA Charles Perig</a:t>
            </a:r>
            <a:endParaRPr lang="fr-FR" sz="2000" cap="none" dirty="0">
              <a:solidFill>
                <a:schemeClr val="tx1"/>
              </a:solidFill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70926" y="4391087"/>
            <a:ext cx="3864685" cy="598671"/>
          </a:xfrm>
        </p:spPr>
        <p:txBody>
          <a:bodyPr/>
          <a:lstStyle/>
          <a:p>
            <a:r>
              <a:rPr lang="fr-FR" sz="2400" u="sng" dirty="0">
                <a:solidFill>
                  <a:schemeClr val="tx1"/>
                </a:solidFill>
              </a:rPr>
              <a:t>SOUS L’ENCADREMENT :</a:t>
            </a:r>
            <a:endParaRPr lang="fr-FR" sz="2400" dirty="0">
              <a:solidFill>
                <a:schemeClr val="tx1"/>
              </a:solidFill>
            </a:endParaRPr>
          </a:p>
          <a:p>
            <a:endParaRPr lang="fr-FR" dirty="0"/>
          </a:p>
        </p:txBody>
      </p:sp>
      <p:sp useBgFill="1">
        <p:nvSpPr>
          <p:cNvPr id="10" name="Titre 1"/>
          <p:cNvSpPr txBox="1"/>
          <p:nvPr/>
        </p:nvSpPr>
        <p:spPr>
          <a:xfrm>
            <a:off x="4852081" y="1027353"/>
            <a:ext cx="1902373" cy="54504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3200" b="1" u="sng" dirty="0">
                <a:solidFill>
                  <a:srgbClr val="2FB8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Thème:</a:t>
            </a:r>
            <a:endParaRPr lang="fr-FR" sz="3200" b="1" u="sng" dirty="0">
              <a:solidFill>
                <a:srgbClr val="2FB8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re 1"/>
          <p:cNvSpPr txBox="1"/>
          <p:nvPr/>
        </p:nvSpPr>
        <p:spPr>
          <a:xfrm>
            <a:off x="1718440" y="5342592"/>
            <a:ext cx="1902373" cy="54504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fr-FR" sz="3200" b="1" u="sng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80555" y="4632846"/>
            <a:ext cx="3196383" cy="157224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b="1" u="sng" dirty="0">
              <a:solidFill>
                <a:schemeClr val="tx1"/>
              </a:solidFill>
            </a:endParaRPr>
          </a:p>
          <a:p>
            <a:r>
              <a:rPr lang="fr-FR" b="1" u="sng" dirty="0">
                <a:solidFill>
                  <a:schemeClr val="tx1"/>
                </a:solidFill>
              </a:rPr>
              <a:t>ACADEMIQUE DE :</a:t>
            </a:r>
            <a:endParaRPr lang="fr-FR" b="1" u="sng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 b="1" dirty="0">
                <a:solidFill>
                  <a:schemeClr val="tx1"/>
                </a:solidFill>
              </a:rPr>
              <a:t>M MEMBOU </a:t>
            </a:r>
            <a:r>
              <a:rPr lang="fr-FR" b="1" dirty="0" err="1">
                <a:solidFill>
                  <a:schemeClr val="tx1"/>
                </a:solidFill>
              </a:rPr>
              <a:t>Willson</a:t>
            </a:r>
            <a:r>
              <a:rPr lang="fr-FR" b="1" dirty="0">
                <a:solidFill>
                  <a:schemeClr val="tx1"/>
                </a:solidFill>
              </a:rPr>
              <a:t> </a:t>
            </a:r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Enseignant à l’IAI-Cameroun</a:t>
            </a:r>
            <a:endParaRPr lang="fr-FR" dirty="0">
              <a:solidFill>
                <a:schemeClr val="tx1"/>
              </a:solidFill>
            </a:endParaRPr>
          </a:p>
          <a:p>
            <a:pPr algn="ctr"/>
            <a:endParaRPr lang="fr-FR" dirty="0"/>
          </a:p>
        </p:txBody>
      </p:sp>
      <p:sp>
        <p:nvSpPr>
          <p:cNvPr id="15" name="Rectangle 14"/>
          <p:cNvSpPr/>
          <p:nvPr/>
        </p:nvSpPr>
        <p:spPr>
          <a:xfrm>
            <a:off x="8723586" y="4585627"/>
            <a:ext cx="3196383" cy="161946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b="1" u="sng" dirty="0">
              <a:solidFill>
                <a:schemeClr val="tx1"/>
              </a:solidFill>
            </a:endParaRPr>
          </a:p>
          <a:p>
            <a:r>
              <a:rPr lang="fr-FR" b="1" u="sng" dirty="0">
                <a:solidFill>
                  <a:schemeClr val="tx1"/>
                </a:solidFill>
              </a:rPr>
              <a:t>PROFESSIONNEL DE :</a:t>
            </a:r>
            <a:endParaRPr lang="fr-FR" b="1" u="sng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 b="1" dirty="0">
                <a:solidFill>
                  <a:schemeClr val="tx1"/>
                </a:solidFill>
              </a:rPr>
              <a:t>M. NJIEMESSA MOUNCHIKPOU E.</a:t>
            </a:r>
            <a:endParaRPr lang="fr-FR" dirty="0">
              <a:solidFill>
                <a:schemeClr val="tx1"/>
              </a:solidFill>
            </a:endParaRPr>
          </a:p>
          <a:p>
            <a:pPr algn="ctr"/>
            <a:r>
              <a:rPr lang="fr-FR" dirty="0"/>
              <a:t>CHEF D’AGENCE AWD SARL CAMEROUN</a:t>
            </a:r>
            <a:endParaRPr lang="fr-FR" dirty="0"/>
          </a:p>
        </p:txBody>
      </p:sp>
      <p:sp>
        <p:nvSpPr>
          <p:cNvPr id="16" name="Ruban vers le bas 15"/>
          <p:cNvSpPr/>
          <p:nvPr/>
        </p:nvSpPr>
        <p:spPr>
          <a:xfrm>
            <a:off x="3529156" y="6196305"/>
            <a:ext cx="4981903" cy="603211"/>
          </a:xfrm>
          <a:prstGeom prst="ribbon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académique 2025 - 2026</a:t>
            </a:r>
            <a:endParaRPr lang="fr-F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dirty="0"/>
          </a:p>
        </p:txBody>
      </p:sp>
      <p:sp>
        <p:nvSpPr>
          <p:cNvPr id="19" name="Rectangle 18"/>
          <p:cNvSpPr/>
          <p:nvPr/>
        </p:nvSpPr>
        <p:spPr>
          <a:xfrm>
            <a:off x="2743200" y="1736035"/>
            <a:ext cx="6241774" cy="1276291"/>
          </a:xfrm>
          <a:prstGeom prst="rect">
            <a:avLst/>
          </a:prstGeom>
          <a:solidFill>
            <a:schemeClr val="accent6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2743200" y="2063316"/>
            <a:ext cx="6241774" cy="6203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u="sng" dirty="0">
                <a:solidFill>
                  <a:srgbClr val="000000"/>
                </a:solidFill>
                <a:effectLst/>
                <a:latin typeface="Copperplate Gothic Bold" panose="020E0705020206020404" pitchFamily="34" charset="0"/>
                <a:ea typeface="Times New Roman" panose="02020603050405020304" pitchFamily="18" charset="0"/>
              </a:rPr>
              <a:t>CONCEPTION ET REALISATION D’UNE APPLICATION WEB D’E-VISA AVEC SYSTEME  BIOMETRIQUE POUR LA REPUBLIQUE DU CAMEROUN</a:t>
            </a:r>
            <a:endParaRPr lang="fr-FR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Image 5" descr="ensp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340" y="0"/>
            <a:ext cx="2481580" cy="119507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9770" y="0"/>
            <a:ext cx="2602865" cy="1128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6768246" cy="1280890"/>
          </a:xfrm>
        </p:spPr>
        <p:txBody>
          <a:bodyPr>
            <a:normAutofit/>
          </a:bodyPr>
          <a:lstStyle/>
          <a:p>
            <a:r>
              <a:rPr lang="fr-FR" sz="4400" b="1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DE L’EXPOSE</a:t>
            </a:r>
            <a:endParaRPr lang="fr-FR" sz="4400" dirty="0">
              <a:ln>
                <a:solidFill>
                  <a:sysClr val="windowText" lastClr="000000"/>
                </a:solidFill>
              </a:ln>
              <a:solidFill>
                <a:srgbClr val="2FB8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55" y="2389847"/>
            <a:ext cx="3314674" cy="41433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</p:pic>
      <p:sp>
        <p:nvSpPr>
          <p:cNvPr id="4" name="Arc plein 3"/>
          <p:cNvSpPr/>
          <p:nvPr/>
        </p:nvSpPr>
        <p:spPr>
          <a:xfrm rot="5400000">
            <a:off x="102423" y="2549264"/>
            <a:ext cx="4278721" cy="3331779"/>
          </a:xfrm>
          <a:prstGeom prst="blockArc">
            <a:avLst>
              <a:gd name="adj1" fmla="val 10514990"/>
              <a:gd name="adj2" fmla="val 249370"/>
              <a:gd name="adj3" fmla="val 773"/>
            </a:avLst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Organigramme : Terminateur 15"/>
          <p:cNvSpPr/>
          <p:nvPr/>
        </p:nvSpPr>
        <p:spPr>
          <a:xfrm>
            <a:off x="3424571" y="1855429"/>
            <a:ext cx="5332261" cy="548735"/>
          </a:xfrm>
          <a:prstGeom prst="flowChartTermina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INTRODUCTION GENERALE</a:t>
            </a:r>
            <a:endParaRPr lang="fr-FR" dirty="0"/>
          </a:p>
        </p:txBody>
      </p:sp>
      <p:sp>
        <p:nvSpPr>
          <p:cNvPr id="17" name="Organigramme : Terminateur 16"/>
          <p:cNvSpPr/>
          <p:nvPr/>
        </p:nvSpPr>
        <p:spPr>
          <a:xfrm>
            <a:off x="4399503" y="3063424"/>
            <a:ext cx="5332261" cy="548735"/>
          </a:xfrm>
          <a:prstGeom prst="flowChartTermina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CONTEXTE </a:t>
            </a:r>
            <a:r>
              <a:rPr lang="en-US" dirty="0"/>
              <a:t>&amp;</a:t>
            </a:r>
            <a:r>
              <a:rPr lang="fr-FR" dirty="0"/>
              <a:t> JUSTIFICATIFS</a:t>
            </a:r>
            <a:endParaRPr lang="fr-FR" dirty="0"/>
          </a:p>
        </p:txBody>
      </p:sp>
      <p:sp>
        <p:nvSpPr>
          <p:cNvPr id="18" name="Organigramme : Terminateur 17"/>
          <p:cNvSpPr/>
          <p:nvPr/>
        </p:nvSpPr>
        <p:spPr>
          <a:xfrm>
            <a:off x="4531700" y="3687585"/>
            <a:ext cx="5332261" cy="548735"/>
          </a:xfrm>
          <a:prstGeom prst="flowChartTermina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PROBLEMATIQUE </a:t>
            </a:r>
            <a:r>
              <a:rPr lang="en-US" dirty="0"/>
              <a:t>&amp;</a:t>
            </a:r>
            <a:r>
              <a:rPr lang="fr-FR" dirty="0"/>
              <a:t> OBJECTIFS</a:t>
            </a:r>
            <a:endParaRPr lang="fr-FR" dirty="0"/>
          </a:p>
        </p:txBody>
      </p:sp>
      <p:sp>
        <p:nvSpPr>
          <p:cNvPr id="19" name="Organigramme : Terminateur 18"/>
          <p:cNvSpPr/>
          <p:nvPr/>
        </p:nvSpPr>
        <p:spPr>
          <a:xfrm>
            <a:off x="4399502" y="4359470"/>
            <a:ext cx="5332261" cy="548735"/>
          </a:xfrm>
          <a:prstGeom prst="flowChartTermina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METHODOLOGIE</a:t>
            </a:r>
            <a:endParaRPr lang="fr-FR" dirty="0"/>
          </a:p>
        </p:txBody>
      </p:sp>
      <p:sp>
        <p:nvSpPr>
          <p:cNvPr id="21" name="Organigramme : Terminateur 20"/>
          <p:cNvSpPr/>
          <p:nvPr/>
        </p:nvSpPr>
        <p:spPr>
          <a:xfrm>
            <a:off x="3758370" y="5713102"/>
            <a:ext cx="5332261" cy="520788"/>
          </a:xfrm>
          <a:prstGeom prst="flowChartTermina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CONCLUSION GENERALE</a:t>
            </a:r>
            <a:endParaRPr lang="fr-FR" dirty="0"/>
          </a:p>
        </p:txBody>
      </p:sp>
      <p:sp>
        <p:nvSpPr>
          <p:cNvPr id="22" name="Organigramme : Terminateur 21"/>
          <p:cNvSpPr/>
          <p:nvPr/>
        </p:nvSpPr>
        <p:spPr>
          <a:xfrm>
            <a:off x="3907750" y="2446451"/>
            <a:ext cx="5332261" cy="548735"/>
          </a:xfrm>
          <a:prstGeom prst="flowChartTermina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PRESENTATION DE L’ENTREPRISE</a:t>
            </a:r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2820121" y="1834877"/>
            <a:ext cx="641132" cy="589837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llipse 5"/>
          <p:cNvSpPr/>
          <p:nvPr/>
        </p:nvSpPr>
        <p:spPr>
          <a:xfrm>
            <a:off x="3393897" y="2401517"/>
            <a:ext cx="641132" cy="589837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3759294" y="3062042"/>
            <a:ext cx="641132" cy="589837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  <a:endParaRPr lang="fr-FR" dirty="0"/>
          </a:p>
        </p:txBody>
      </p:sp>
      <p:sp>
        <p:nvSpPr>
          <p:cNvPr id="8" name="Ellipse 7"/>
          <p:cNvSpPr/>
          <p:nvPr/>
        </p:nvSpPr>
        <p:spPr>
          <a:xfrm>
            <a:off x="3890568" y="3643811"/>
            <a:ext cx="641132" cy="589837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  <a:endParaRPr lang="fr-FR" dirty="0"/>
          </a:p>
        </p:txBody>
      </p:sp>
      <p:sp>
        <p:nvSpPr>
          <p:cNvPr id="9" name="Ellipse 8"/>
          <p:cNvSpPr/>
          <p:nvPr/>
        </p:nvSpPr>
        <p:spPr>
          <a:xfrm>
            <a:off x="3758370" y="4277945"/>
            <a:ext cx="641132" cy="589837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5</a:t>
            </a:r>
            <a:endParaRPr lang="fr-FR" dirty="0"/>
          </a:p>
        </p:txBody>
      </p:sp>
      <p:sp>
        <p:nvSpPr>
          <p:cNvPr id="10" name="Ellipse 9"/>
          <p:cNvSpPr/>
          <p:nvPr/>
        </p:nvSpPr>
        <p:spPr>
          <a:xfrm>
            <a:off x="3161763" y="5567572"/>
            <a:ext cx="641132" cy="589837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7</a:t>
            </a:r>
            <a:endParaRPr lang="fr-FR" dirty="0"/>
          </a:p>
        </p:txBody>
      </p:sp>
      <p:sp>
        <p:nvSpPr>
          <p:cNvPr id="25" name="Rectangle 24"/>
          <p:cNvSpPr/>
          <p:nvPr/>
        </p:nvSpPr>
        <p:spPr>
          <a:xfrm>
            <a:off x="1949450" y="120650"/>
            <a:ext cx="8741410" cy="369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1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</a:t>
            </a:r>
            <a:r>
              <a:rPr lang="fr-FR" sz="11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 APPLICATION  WEB D’E-VISA AVEC SYSTEME BIOMETRIQUE POUR LA REPUBLIQUE DU CAMEROUN</a:t>
            </a:r>
            <a:endParaRPr lang="fr-FR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9" name="Organigramme : Terminateur 28"/>
          <p:cNvSpPr/>
          <p:nvPr/>
        </p:nvSpPr>
        <p:spPr>
          <a:xfrm>
            <a:off x="4211134" y="4989730"/>
            <a:ext cx="5332261" cy="548735"/>
          </a:xfrm>
          <a:prstGeom prst="flowChartTermina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DEMONSTRATION</a:t>
            </a:r>
            <a:endParaRPr lang="fr-FR" dirty="0"/>
          </a:p>
        </p:txBody>
      </p:sp>
      <p:sp>
        <p:nvSpPr>
          <p:cNvPr id="30" name="Ellipse 29"/>
          <p:cNvSpPr/>
          <p:nvPr/>
        </p:nvSpPr>
        <p:spPr>
          <a:xfrm>
            <a:off x="3587146" y="4939352"/>
            <a:ext cx="641132" cy="589837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6</a:t>
            </a:r>
            <a:endParaRPr lang="fr-FR" dirty="0"/>
          </a:p>
        </p:txBody>
      </p:sp>
      <p:pic>
        <p:nvPicPr>
          <p:cNvPr id="12" name="Image 11" descr="ensp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1585" cy="718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04724" y="591983"/>
            <a:ext cx="8911687" cy="1280890"/>
          </a:xfrm>
        </p:spPr>
        <p:txBody>
          <a:bodyPr>
            <a:normAutofit/>
          </a:bodyPr>
          <a:lstStyle/>
          <a:p>
            <a:r>
              <a:rPr lang="fr-FR" sz="4400" b="1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GENERALE</a:t>
            </a:r>
            <a:endParaRPr lang="fr-FR" sz="4400" b="1" dirty="0">
              <a:ln>
                <a:solidFill>
                  <a:sysClr val="windowText" lastClr="000000"/>
                </a:solidFill>
              </a:ln>
              <a:solidFill>
                <a:srgbClr val="2FB8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73322" y="98010"/>
            <a:ext cx="8002980" cy="3855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2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</a:t>
            </a:r>
            <a:r>
              <a:rPr lang="fr-FR" sz="12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 APPLICATION  WEB D’E-VISA AVEC SYSTEME BIOMETRIQUE POUR LA REPUBLIQUE DU CAMEROUN</a:t>
            </a:r>
            <a:endParaRPr lang="fr-FR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6" name="Group 33"/>
          <p:cNvGrpSpPr/>
          <p:nvPr/>
        </p:nvGrpSpPr>
        <p:grpSpPr>
          <a:xfrm>
            <a:off x="10515437" y="130397"/>
            <a:ext cx="1077358" cy="2510676"/>
            <a:chOff x="984760" y="274320"/>
            <a:chExt cx="1077358" cy="2984211"/>
          </a:xfrm>
          <a:solidFill>
            <a:srgbClr val="6699FF"/>
          </a:solidFill>
        </p:grpSpPr>
        <p:grpSp>
          <p:nvGrpSpPr>
            <p:cNvPr id="27" name="Group 112"/>
            <p:cNvGrpSpPr/>
            <p:nvPr/>
          </p:nvGrpSpPr>
          <p:grpSpPr>
            <a:xfrm>
              <a:off x="984760" y="1467868"/>
              <a:ext cx="1077358" cy="1790663"/>
              <a:chOff x="10268256" y="991107"/>
              <a:chExt cx="1077358" cy="1790663"/>
            </a:xfrm>
            <a:grpFill/>
          </p:grpSpPr>
          <p:sp>
            <p:nvSpPr>
              <p:cNvPr id="29" name="Freeform 5"/>
              <p:cNvSpPr>
                <a:spLocks noEditPoints="1"/>
              </p:cNvSpPr>
              <p:nvPr/>
            </p:nvSpPr>
            <p:spPr bwMode="auto">
              <a:xfrm rot="10800000">
                <a:off x="10268256" y="991107"/>
                <a:ext cx="1077358" cy="1790663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solidFill>
                  <a:srgbClr val="6699FF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Freeform 6"/>
              <p:cNvSpPr>
                <a:spLocks noEditPoints="1"/>
              </p:cNvSpPr>
              <p:nvPr/>
            </p:nvSpPr>
            <p:spPr bwMode="auto">
              <a:xfrm rot="10800000">
                <a:off x="11144278" y="2144889"/>
                <a:ext cx="76425" cy="129842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solidFill>
                  <a:srgbClr val="6699FF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Freeform 7"/>
              <p:cNvSpPr>
                <a:spLocks noEditPoints="1"/>
              </p:cNvSpPr>
              <p:nvPr/>
            </p:nvSpPr>
            <p:spPr bwMode="auto">
              <a:xfrm rot="10800000">
                <a:off x="10905961" y="1656750"/>
                <a:ext cx="276940" cy="444584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solidFill>
                  <a:srgbClr val="6699FF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Freeform 8"/>
              <p:cNvSpPr>
                <a:spLocks noEditPoints="1"/>
              </p:cNvSpPr>
              <p:nvPr/>
            </p:nvSpPr>
            <p:spPr bwMode="auto">
              <a:xfrm rot="10800000">
                <a:off x="10418642" y="1972315"/>
                <a:ext cx="124090" cy="15367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solidFill>
                  <a:srgbClr val="6699FF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Freeform 9"/>
              <p:cNvSpPr>
                <a:spLocks noEditPoints="1"/>
              </p:cNvSpPr>
              <p:nvPr/>
            </p:nvSpPr>
            <p:spPr bwMode="auto">
              <a:xfrm rot="10800000">
                <a:off x="10393167" y="2166256"/>
                <a:ext cx="447872" cy="488139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solidFill>
                  <a:srgbClr val="6699FF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28" name="Straight Connector 131"/>
            <p:cNvCxnSpPr/>
            <p:nvPr/>
          </p:nvCxnSpPr>
          <p:spPr>
            <a:xfrm>
              <a:off x="1515412" y="274320"/>
              <a:ext cx="0" cy="1193548"/>
            </a:xfrm>
            <a:prstGeom prst="line">
              <a:avLst/>
            </a:prstGeom>
            <a:grpFill/>
            <a:ln w="50800">
              <a:solidFill>
                <a:srgbClr val="669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33"/>
          <p:cNvGrpSpPr/>
          <p:nvPr/>
        </p:nvGrpSpPr>
        <p:grpSpPr>
          <a:xfrm>
            <a:off x="9400277" y="16910"/>
            <a:ext cx="1077358" cy="2801241"/>
            <a:chOff x="984760" y="-506825"/>
            <a:chExt cx="1077358" cy="3765356"/>
          </a:xfrm>
          <a:solidFill>
            <a:srgbClr val="6699FF"/>
          </a:solidFill>
        </p:grpSpPr>
        <p:grpSp>
          <p:nvGrpSpPr>
            <p:cNvPr id="43" name="Group 112"/>
            <p:cNvGrpSpPr/>
            <p:nvPr/>
          </p:nvGrpSpPr>
          <p:grpSpPr>
            <a:xfrm>
              <a:off x="984760" y="1467868"/>
              <a:ext cx="1077358" cy="1790663"/>
              <a:chOff x="10268256" y="991107"/>
              <a:chExt cx="1077358" cy="1790663"/>
            </a:xfrm>
            <a:grpFill/>
          </p:grpSpPr>
          <p:sp>
            <p:nvSpPr>
              <p:cNvPr id="45" name="Freeform 5"/>
              <p:cNvSpPr>
                <a:spLocks noEditPoints="1"/>
              </p:cNvSpPr>
              <p:nvPr/>
            </p:nvSpPr>
            <p:spPr bwMode="auto">
              <a:xfrm rot="10800000">
                <a:off x="10268256" y="991107"/>
                <a:ext cx="1077358" cy="1790663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Freeform 6"/>
              <p:cNvSpPr>
                <a:spLocks noEditPoints="1"/>
              </p:cNvSpPr>
              <p:nvPr/>
            </p:nvSpPr>
            <p:spPr bwMode="auto">
              <a:xfrm rot="10800000">
                <a:off x="11144278" y="2144889"/>
                <a:ext cx="76425" cy="129842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Freeform 7"/>
              <p:cNvSpPr>
                <a:spLocks noEditPoints="1"/>
              </p:cNvSpPr>
              <p:nvPr/>
            </p:nvSpPr>
            <p:spPr bwMode="auto">
              <a:xfrm rot="10800000">
                <a:off x="10905961" y="1656750"/>
                <a:ext cx="276940" cy="444584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Freeform 8"/>
              <p:cNvSpPr>
                <a:spLocks noEditPoints="1"/>
              </p:cNvSpPr>
              <p:nvPr/>
            </p:nvSpPr>
            <p:spPr bwMode="auto">
              <a:xfrm rot="10800000">
                <a:off x="10418642" y="1972315"/>
                <a:ext cx="124090" cy="15367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Freeform 9"/>
              <p:cNvSpPr>
                <a:spLocks noEditPoints="1"/>
              </p:cNvSpPr>
              <p:nvPr/>
            </p:nvSpPr>
            <p:spPr bwMode="auto">
              <a:xfrm rot="10800000">
                <a:off x="10393167" y="2166256"/>
                <a:ext cx="447872" cy="488139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44" name="Straight Connector 131"/>
            <p:cNvCxnSpPr/>
            <p:nvPr/>
          </p:nvCxnSpPr>
          <p:spPr>
            <a:xfrm>
              <a:off x="1432676" y="-506825"/>
              <a:ext cx="82736" cy="1974693"/>
            </a:xfrm>
            <a:prstGeom prst="line">
              <a:avLst/>
            </a:prstGeom>
            <a:grpFill/>
            <a:ln w="50800">
              <a:solidFill>
                <a:srgbClr val="669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700" y="1694572"/>
            <a:ext cx="2426851" cy="5033033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924285" y="1540701"/>
            <a:ext cx="9739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b="1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2927790" y="2875248"/>
          <a:ext cx="8665005" cy="39508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66402"/>
                <a:gridCol w="4198603"/>
              </a:tblGrid>
              <a:tr h="43888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1779270" algn="l"/>
                        </a:tabLst>
                      </a:pPr>
                      <a:r>
                        <a:rPr lang="en-US" sz="1200" dirty="0">
                          <a:effectLst/>
                        </a:rPr>
                        <a:t>Siege social	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fr-FR" altLang="en-US" sz="1200" dirty="0">
                          <a:effectLst/>
                        </a:rPr>
                        <a:t>DOUALA</a:t>
                      </a:r>
                      <a:r>
                        <a:rPr lang="en-US" sz="1200" dirty="0">
                          <a:effectLst/>
                        </a:rPr>
                        <a:t> (</a:t>
                      </a:r>
                      <a:r>
                        <a:rPr lang="fr-FR" altLang="en-US" sz="1200" dirty="0">
                          <a:effectLst/>
                        </a:rPr>
                        <a:t>Akwa Nord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3899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Forme juridique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SARL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3899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Type d’entreprise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P</a:t>
                      </a:r>
                      <a:r>
                        <a:rPr lang="fr-FR" altLang="en-US" sz="1200">
                          <a:effectLst/>
                        </a:rPr>
                        <a:t>rivee</a:t>
                      </a:r>
                      <a:r>
                        <a:rPr lang="en-US" sz="1200">
                          <a:effectLst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3899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Date de création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17 décembre 1987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3899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Services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fr-FR" alt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developpement d’applications web et mobile</a:t>
                      </a:r>
                      <a:endParaRPr lang="fr-FR" alt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3899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Directeur General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M. </a:t>
                      </a:r>
                      <a:r>
                        <a:rPr lang="fr-FR" altLang="en-US" sz="1200">
                          <a:effectLst/>
                        </a:rPr>
                        <a:t>NJIEMESSA MOUNCHIKPOU Emile Juste</a:t>
                      </a:r>
                      <a:endParaRPr lang="fr-FR" alt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3899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Téléphone 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222 21 40 77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3899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Site web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www.crtv.cm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3899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Langues utilisées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Français et anglais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6" name="Image 5" descr="ensp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1585" cy="718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b="1" cap="none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L’ENTREPRISE</a:t>
            </a:r>
            <a:endParaRPr lang="fr-FR" sz="4400" b="1" cap="none" dirty="0">
              <a:ln>
                <a:solidFill>
                  <a:sysClr val="windowText" lastClr="000000"/>
                </a:solidFill>
              </a:ln>
              <a:solidFill>
                <a:srgbClr val="2FB8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30145" y="-16510"/>
            <a:ext cx="8002905" cy="525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</a:t>
            </a: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90" y="2019752"/>
            <a:ext cx="2473853" cy="3968362"/>
          </a:xfrm>
          <a:prstGeom prst="rect">
            <a:avLst/>
          </a:prstGeom>
        </p:spPr>
      </p:pic>
      <p:sp>
        <p:nvSpPr>
          <p:cNvPr id="14" name="Ellipse 13"/>
          <p:cNvSpPr/>
          <p:nvPr/>
        </p:nvSpPr>
        <p:spPr>
          <a:xfrm>
            <a:off x="5280087" y="1420915"/>
            <a:ext cx="62245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AUDIOVISUELLE  PARAPUBLIQUE</a:t>
            </a:r>
            <a:endParaRPr lang="en-US" dirty="0"/>
          </a:p>
        </p:txBody>
      </p:sp>
      <p:sp>
        <p:nvSpPr>
          <p:cNvPr id="16" name="Ellipse 15"/>
          <p:cNvSpPr/>
          <p:nvPr/>
        </p:nvSpPr>
        <p:spPr>
          <a:xfrm>
            <a:off x="5280086" y="2616515"/>
            <a:ext cx="6224523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 JANVIER 1988, n° 871020 DU 17 DECEMBRE 1987</a:t>
            </a:r>
            <a:endParaRPr lang="en-US" dirty="0"/>
          </a:p>
        </p:txBody>
      </p:sp>
      <p:sp>
        <p:nvSpPr>
          <p:cNvPr id="17" name="Ellipse 16"/>
          <p:cNvSpPr/>
          <p:nvPr/>
        </p:nvSpPr>
        <p:spPr>
          <a:xfrm>
            <a:off x="5280087" y="3737559"/>
            <a:ext cx="62245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NDONGO Charles, Directeur General CRTV</a:t>
            </a:r>
            <a:endParaRPr lang="en-US" dirty="0"/>
          </a:p>
        </p:txBody>
      </p:sp>
      <p:sp>
        <p:nvSpPr>
          <p:cNvPr id="18" name="Ellipse 17"/>
          <p:cNvSpPr/>
          <p:nvPr/>
        </p:nvSpPr>
        <p:spPr>
          <a:xfrm>
            <a:off x="5280086" y="4801955"/>
            <a:ext cx="62245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COORDINATION GENERALE</a:t>
            </a:r>
            <a:endParaRPr lang="en-US" dirty="0"/>
          </a:p>
        </p:txBody>
      </p:sp>
      <p:sp>
        <p:nvSpPr>
          <p:cNvPr id="20" name="Ellipse 19"/>
          <p:cNvSpPr/>
          <p:nvPr/>
        </p:nvSpPr>
        <p:spPr>
          <a:xfrm>
            <a:off x="5280087" y="5866352"/>
            <a:ext cx="6224522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STRUCTURE OPERATIONNELLE</a:t>
            </a:r>
            <a:endParaRPr lang="en-US" dirty="0"/>
          </a:p>
        </p:txBody>
      </p:sp>
      <p:pic>
        <p:nvPicPr>
          <p:cNvPr id="4" name="Image 3" descr="ensp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1585" cy="718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700" y="2911475"/>
            <a:ext cx="2072640" cy="1479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ganigramme : Terminateur 2"/>
          <p:cNvSpPr/>
          <p:nvPr/>
        </p:nvSpPr>
        <p:spPr>
          <a:xfrm>
            <a:off x="2741585" y="2240872"/>
            <a:ext cx="6207623" cy="353300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Conception des applications Web et Mobiles</a:t>
            </a: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rganigramme : Connecteur 3"/>
          <p:cNvSpPr/>
          <p:nvPr/>
        </p:nvSpPr>
        <p:spPr>
          <a:xfrm>
            <a:off x="2415803" y="2224480"/>
            <a:ext cx="325782" cy="386085"/>
          </a:xfrm>
          <a:prstGeom prst="flowChartConnector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rganigramme : Terminateur 4"/>
          <p:cNvSpPr/>
          <p:nvPr/>
        </p:nvSpPr>
        <p:spPr>
          <a:xfrm>
            <a:off x="2830186" y="2746398"/>
            <a:ext cx="6030419" cy="353300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 des Réseaux informatiques</a:t>
            </a: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rganigramme : Connecteur 5"/>
          <p:cNvSpPr/>
          <p:nvPr/>
        </p:nvSpPr>
        <p:spPr>
          <a:xfrm>
            <a:off x="2493418" y="2747682"/>
            <a:ext cx="325782" cy="386085"/>
          </a:xfrm>
          <a:prstGeom prst="flowChartConnector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rganigramme : Terminateur 6"/>
          <p:cNvSpPr/>
          <p:nvPr/>
        </p:nvSpPr>
        <p:spPr>
          <a:xfrm>
            <a:off x="2819200" y="3242631"/>
            <a:ext cx="6030419" cy="353300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Maintenance Informatique</a:t>
            </a: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rganigramme : Connecteur 8"/>
          <p:cNvSpPr/>
          <p:nvPr/>
        </p:nvSpPr>
        <p:spPr>
          <a:xfrm>
            <a:off x="2493418" y="3287277"/>
            <a:ext cx="325782" cy="386085"/>
          </a:xfrm>
          <a:prstGeom prst="flowChartConnector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rganigramme : Connecteur 9"/>
          <p:cNvSpPr/>
          <p:nvPr/>
        </p:nvSpPr>
        <p:spPr>
          <a:xfrm>
            <a:off x="2493418" y="3820892"/>
            <a:ext cx="325782" cy="386085"/>
          </a:xfrm>
          <a:prstGeom prst="flowChartConnector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rganigramme : Terminateur 10"/>
          <p:cNvSpPr/>
          <p:nvPr/>
        </p:nvSpPr>
        <p:spPr>
          <a:xfrm>
            <a:off x="2819200" y="3820892"/>
            <a:ext cx="6463422" cy="353300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Infographie</a:t>
            </a: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rganigramme : Connecteur 13"/>
          <p:cNvSpPr/>
          <p:nvPr/>
        </p:nvSpPr>
        <p:spPr>
          <a:xfrm>
            <a:off x="2454611" y="4490568"/>
            <a:ext cx="325782" cy="386085"/>
          </a:xfrm>
          <a:prstGeom prst="flowChartConnector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rganigramme : Terminateur 14"/>
          <p:cNvSpPr/>
          <p:nvPr/>
        </p:nvSpPr>
        <p:spPr>
          <a:xfrm>
            <a:off x="2780393" y="4481185"/>
            <a:ext cx="5863873" cy="353300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 et Sécurité</a:t>
            </a: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69490" y="95250"/>
            <a:ext cx="8002905" cy="622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2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</a:t>
            </a:r>
            <a:r>
              <a:rPr lang="fr-FR" sz="12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 APPLICATION  WEB D’E-VISA AVEC SYSTEME BIOMETRIQUE POUR LA REPUBLIQUE DU CAMEROUN</a:t>
            </a:r>
            <a:endParaRPr lang="fr-FR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3522945" y="983177"/>
            <a:ext cx="6093912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 DE AWD SARL</a:t>
            </a:r>
            <a:endParaRPr lang="en-US" sz="3200" dirty="0"/>
          </a:p>
        </p:txBody>
      </p:sp>
      <p:pic>
        <p:nvPicPr>
          <p:cNvPr id="12" name="Image 11" descr="ensp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51585" cy="71818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2225040"/>
            <a:ext cx="2289175" cy="26092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49805" y="0"/>
            <a:ext cx="8002905" cy="576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</a:t>
            </a: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Rectangle : coins arrondis 6"/>
          <p:cNvSpPr/>
          <p:nvPr/>
        </p:nvSpPr>
        <p:spPr>
          <a:xfrm>
            <a:off x="887896" y="1905000"/>
            <a:ext cx="2478156" cy="5245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PLAN DE LOCALICATION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8" name="Flèche droite 6"/>
          <p:cNvSpPr/>
          <p:nvPr/>
        </p:nvSpPr>
        <p:spPr>
          <a:xfrm>
            <a:off x="3366052" y="1935857"/>
            <a:ext cx="609601" cy="494212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641" y="685165"/>
            <a:ext cx="8002980" cy="617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 11" descr="ensp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1585" cy="718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b="1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 </a:t>
            </a:r>
            <a:r>
              <a:rPr lang="en-US" sz="4400" b="1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fr-FR" sz="4400" b="1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JUSTIFICATIFS</a:t>
            </a:r>
            <a:endParaRPr lang="fr-FR" sz="4400" b="1" dirty="0">
              <a:ln>
                <a:solidFill>
                  <a:sysClr val="windowText" lastClr="000000"/>
                </a:solidFill>
              </a:ln>
              <a:solidFill>
                <a:srgbClr val="2FB8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20947" y="106266"/>
            <a:ext cx="8002980" cy="4937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</a:t>
            </a: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301332" y="2270234"/>
            <a:ext cx="5658034" cy="3846788"/>
            <a:chOff x="301332" y="2270234"/>
            <a:chExt cx="5658034" cy="3846788"/>
          </a:xfrm>
        </p:grpSpPr>
        <p:sp>
          <p:nvSpPr>
            <p:cNvPr id="14" name="Rectangle 13"/>
            <p:cNvSpPr/>
            <p:nvPr/>
          </p:nvSpPr>
          <p:spPr>
            <a:xfrm>
              <a:off x="301332" y="5349766"/>
              <a:ext cx="5658034" cy="76725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66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01332" y="3857297"/>
              <a:ext cx="5658034" cy="76725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66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1332" y="2624641"/>
              <a:ext cx="5658034" cy="76725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66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75894" y="2270234"/>
              <a:ext cx="4542644" cy="76725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SUR LE PLAN ORGANISATIONNEL</a:t>
              </a:r>
              <a:endParaRPr lang="fr-FR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02665" y="3579224"/>
              <a:ext cx="4542644" cy="76725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JUSTIFICATION</a:t>
              </a:r>
              <a:endParaRPr lang="fr-FR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5894" y="4966138"/>
              <a:ext cx="4542644" cy="76725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SOLUTIONS</a:t>
              </a:r>
              <a:endParaRPr lang="fr-FR" dirty="0"/>
            </a:p>
          </p:txBody>
        </p:sp>
      </p:grpSp>
      <p:pic>
        <p:nvPicPr>
          <p:cNvPr id="16" name="Imag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2650" y="2270234"/>
            <a:ext cx="4151916" cy="3923874"/>
          </a:xfrm>
          <a:prstGeom prst="rect">
            <a:avLst/>
          </a:prstGeom>
        </p:spPr>
      </p:pic>
      <p:pic>
        <p:nvPicPr>
          <p:cNvPr id="4" name="Image 3" descr="ensp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1585" cy="71818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705" y="624205"/>
            <a:ext cx="8911590" cy="748665"/>
          </a:xfrm>
        </p:spPr>
        <p:txBody>
          <a:bodyPr>
            <a:normAutofit/>
          </a:bodyPr>
          <a:lstStyle/>
          <a:p>
            <a:r>
              <a:rPr lang="fr-FR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</a:rPr>
              <a:t>PROBLEMATIQUE</a:t>
            </a:r>
            <a:endParaRPr lang="fr-FR" dirty="0">
              <a:ln>
                <a:solidFill>
                  <a:sysClr val="windowText" lastClr="000000"/>
                </a:solidFill>
              </a:ln>
              <a:solidFill>
                <a:srgbClr val="2FB8BF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408" y="2043776"/>
            <a:ext cx="3657109" cy="38993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06135" y="1858645"/>
            <a:ext cx="5412740" cy="45256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None/>
            </a:pPr>
            <a:endParaRPr lang="en-US" sz="18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Comment </a:t>
            </a:r>
            <a:r>
              <a:rPr lang="fr-FR" alt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dematerialiser le processus de demande de visa ?</a:t>
            </a:r>
            <a:endParaRPr lang="fr-FR" altLang="en-US" sz="18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fr-FR" alt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comment concevoir une application web securisee et efficace pour la demande d’evisa pour le cameroun?</a:t>
            </a:r>
            <a:endParaRPr lang="fr-FR" altLang="en-US" sz="18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fr-FR" alt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comment assurer la confidentialite et la securite des donnees biometriques?</a:t>
            </a:r>
            <a:endParaRPr lang="fr-FR" altLang="en-US" sz="18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fr-FR" alt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comment integrer le systeme biometrique pour l’identification et la verification des demandeurs? </a:t>
            </a:r>
            <a:endParaRPr lang="en-US" sz="18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37180" y="107315"/>
            <a:ext cx="7273290" cy="647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</a:t>
            </a: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2" name="Image 11" descr="ensp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1585" cy="718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b="1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OBJECTIFS</a:t>
            </a:r>
            <a:endParaRPr lang="fr-FR" sz="4400" b="1" dirty="0">
              <a:ln>
                <a:solidFill>
                  <a:sysClr val="windowText" lastClr="000000"/>
                </a:solidFill>
              </a:ln>
              <a:solidFill>
                <a:srgbClr val="2FB8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0" y="1400810"/>
            <a:ext cx="4199890" cy="501015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</p:pic>
      <p:sp>
        <p:nvSpPr>
          <p:cNvPr id="10" name="Rectangle 9"/>
          <p:cNvSpPr/>
          <p:nvPr/>
        </p:nvSpPr>
        <p:spPr>
          <a:xfrm>
            <a:off x="2273935" y="0"/>
            <a:ext cx="8002905" cy="629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</a:rPr>
              <a:t>CONCEPTION ET REALISATION D’UNE</a:t>
            </a:r>
            <a:r>
              <a:rPr lang="fr-FR" sz="16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</a:rPr>
              <a:t> </a:t>
            </a: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</a:rPr>
              <a:t>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25695" y="1400810"/>
            <a:ext cx="6190615" cy="5010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FR" altLang="en-US" dirty="0">
                <a:solidFill>
                  <a:schemeClr val="tx1"/>
                </a:solidFill>
              </a:rPr>
              <a:t>developper une plateforme securise permettant aux demandeurs de soumettre leurs demande d’e-visa  </a:t>
            </a:r>
            <a:r>
              <a:rPr lang="en-US" dirty="0">
                <a:solidFill>
                  <a:schemeClr val="tx1"/>
                </a:solidFill>
              </a:rPr>
              <a:t> ; </a:t>
            </a:r>
            <a:endParaRPr lang="en-US" dirty="0">
              <a:solidFill>
                <a:schemeClr val="tx1"/>
              </a:solidFill>
            </a:endParaRPr>
          </a:p>
          <a:p>
            <a:pPr lvl="0"/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fr-FR" altLang="en-US" dirty="0">
                <a:solidFill>
                  <a:schemeClr val="tx1"/>
                </a:solidFill>
              </a:rPr>
              <a:t>integrer un systeme de capture et verification biometrique pour renforcer la securite</a:t>
            </a:r>
            <a:r>
              <a:rPr lang="en-US" dirty="0">
                <a:solidFill>
                  <a:schemeClr val="tx1"/>
                </a:solidFill>
              </a:rPr>
              <a:t> ;</a:t>
            </a:r>
            <a:endParaRPr lang="en-US" dirty="0">
              <a:solidFill>
                <a:schemeClr val="tx1"/>
              </a:solidFill>
            </a:endParaRPr>
          </a:p>
          <a:p>
            <a:pPr lvl="0"/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fr-FR" altLang="en-US" dirty="0">
                <a:solidFill>
                  <a:schemeClr val="tx1"/>
                </a:solidFill>
              </a:rPr>
              <a:t>automatiser le traitement des demandes par les autorites competentes</a:t>
            </a:r>
            <a:r>
              <a:rPr lang="en-US" dirty="0">
                <a:solidFill>
                  <a:schemeClr val="tx1"/>
                </a:solidFill>
              </a:rPr>
              <a:t> ;</a:t>
            </a:r>
            <a:endParaRPr lang="en-US" dirty="0">
              <a:solidFill>
                <a:schemeClr val="tx1"/>
              </a:solidFill>
            </a:endParaRPr>
          </a:p>
          <a:p>
            <a:pPr lvl="0"/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fr-FR" altLang="en-US" dirty="0">
                <a:solidFill>
                  <a:schemeClr val="tx1"/>
                </a:solidFill>
              </a:rPr>
              <a:t>faciliter le paiement en ligne de maniere securisee</a:t>
            </a:r>
            <a:r>
              <a:rPr lang="en-US" dirty="0">
                <a:solidFill>
                  <a:schemeClr val="tx1"/>
                </a:solidFill>
              </a:rPr>
              <a:t> ;</a:t>
            </a:r>
            <a:endParaRPr lang="en-US" dirty="0">
              <a:solidFill>
                <a:schemeClr val="tx1"/>
              </a:solidFill>
            </a:endParaRPr>
          </a:p>
          <a:p>
            <a:pPr lvl="0"/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fr-FR" altLang="en-US" dirty="0">
                <a:solidFill>
                  <a:schemeClr val="tx1"/>
                </a:solidFill>
              </a:rPr>
              <a:t>permettre le suivi en temps reel du statut des demandes; </a:t>
            </a:r>
            <a:endParaRPr lang="en-US" dirty="0">
              <a:solidFill>
                <a:schemeClr val="tx1"/>
              </a:solidFill>
            </a:endParaRPr>
          </a:p>
          <a:p>
            <a:pPr lvl="0"/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fr-FR" altLang="en-US" dirty="0">
                <a:solidFill>
                  <a:schemeClr val="tx1"/>
                </a:solidFill>
              </a:rPr>
              <a:t>generer et delivrer les visas electroniques telechargeables;</a:t>
            </a:r>
            <a:endParaRPr lang="en-US" dirty="0">
              <a:solidFill>
                <a:schemeClr val="tx1"/>
              </a:solidFill>
            </a:endParaRPr>
          </a:p>
          <a:p>
            <a:pPr lvl="0"/>
            <a:endParaRPr lang="fr-FR" dirty="0">
              <a:solidFill>
                <a:schemeClr val="tx1"/>
              </a:solidFill>
            </a:endParaRPr>
          </a:p>
          <a:p>
            <a:pPr algn="just"/>
            <a:r>
              <a:rPr lang="fr-FR" dirty="0">
                <a:solidFill>
                  <a:schemeClr val="tx1"/>
                </a:solidFill>
              </a:rPr>
              <a:t>fournir des notifications automatiques par e-mail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2" name="Triangle isocèle 11"/>
          <p:cNvSpPr/>
          <p:nvPr/>
        </p:nvSpPr>
        <p:spPr>
          <a:xfrm rot="5400000">
            <a:off x="4523437" y="2260820"/>
            <a:ext cx="310055" cy="28903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Triangle isocèle 12"/>
          <p:cNvSpPr/>
          <p:nvPr/>
        </p:nvSpPr>
        <p:spPr>
          <a:xfrm rot="5400000">
            <a:off x="4523437" y="3109800"/>
            <a:ext cx="310055" cy="28903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riangle isocèle 14"/>
          <p:cNvSpPr/>
          <p:nvPr/>
        </p:nvSpPr>
        <p:spPr>
          <a:xfrm rot="5400000">
            <a:off x="4522352" y="1411526"/>
            <a:ext cx="310055" cy="28903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riangle isocèle 17"/>
          <p:cNvSpPr/>
          <p:nvPr/>
        </p:nvSpPr>
        <p:spPr>
          <a:xfrm rot="5400000">
            <a:off x="4521952" y="3959094"/>
            <a:ext cx="310055" cy="28903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riangle isocèle 6"/>
          <p:cNvSpPr/>
          <p:nvPr/>
        </p:nvSpPr>
        <p:spPr>
          <a:xfrm rot="5400000">
            <a:off x="4484922" y="4479515"/>
            <a:ext cx="310055" cy="28903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riangle isocèle 3"/>
          <p:cNvSpPr/>
          <p:nvPr/>
        </p:nvSpPr>
        <p:spPr>
          <a:xfrm rot="5400000">
            <a:off x="4522387" y="5310389"/>
            <a:ext cx="310055" cy="28903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riangle isocèle 4"/>
          <p:cNvSpPr/>
          <p:nvPr/>
        </p:nvSpPr>
        <p:spPr>
          <a:xfrm rot="5400000">
            <a:off x="4523657" y="6141604"/>
            <a:ext cx="310055" cy="289035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 descr="ensp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0325"/>
            <a:ext cx="1358900" cy="75501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"/>
          <p:cNvSpPr>
            <a:spLocks noGrp="1"/>
          </p:cNvSpPr>
          <p:nvPr>
            <p:ph type="title"/>
          </p:nvPr>
        </p:nvSpPr>
        <p:spPr>
          <a:xfrm>
            <a:off x="2639060" y="824865"/>
            <a:ext cx="8865235" cy="875030"/>
          </a:xfrm>
        </p:spPr>
        <p:txBody>
          <a:bodyPr>
            <a:normAutofit/>
          </a:bodyPr>
          <a:lstStyle/>
          <a:p>
            <a:r>
              <a:rPr lang="fr-FR" dirty="0"/>
              <a:t>METHODOLOGIE</a:t>
            </a:r>
            <a:endParaRPr lang="fr-FR" dirty="0"/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665" y="2412463"/>
            <a:ext cx="2335117" cy="3189166"/>
          </a:xfrm>
          <a:prstGeom prst="rect">
            <a:avLst/>
          </a:prstGeom>
        </p:spPr>
      </p:pic>
      <p:sp>
        <p:nvSpPr>
          <p:cNvPr id="30" name="Oval Callout 5"/>
          <p:cNvSpPr/>
          <p:nvPr/>
        </p:nvSpPr>
        <p:spPr>
          <a:xfrm>
            <a:off x="3597185" y="4471511"/>
            <a:ext cx="2493517" cy="1839951"/>
          </a:xfrm>
          <a:prstGeom prst="wedgeEllipseCallout">
            <a:avLst>
              <a:gd name="adj1" fmla="val -120003"/>
              <a:gd name="adj2" fmla="val -89452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C’est quoi UML</a:t>
            </a:r>
            <a:r>
              <a:rPr lang="en-US" dirty="0"/>
              <a:t>?</a:t>
            </a:r>
            <a:endParaRPr lang="en-US" dirty="0"/>
          </a:p>
          <a:p>
            <a:pPr algn="ctr"/>
            <a:r>
              <a:rPr lang="en-US" dirty="0"/>
              <a:t>Pourquoi UML?</a:t>
            </a:r>
            <a:r>
              <a:rPr lang="fr-FR" dirty="0"/>
              <a:t> </a:t>
            </a:r>
            <a:endParaRPr lang="fr-FR" dirty="0"/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254" y="1895707"/>
            <a:ext cx="5531005" cy="47879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08597" y="138"/>
            <a:ext cx="8002980" cy="496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</a:t>
            </a: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</a:rPr>
              <a:t> 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2" name="Image 11" descr="ensp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75740" cy="718185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xfrm>
            <a:off x="2592925" y="624110"/>
            <a:ext cx="4036476" cy="856269"/>
          </a:xfrm>
        </p:spPr>
        <p:txBody>
          <a:bodyPr/>
          <a:lstStyle/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METHODOLOGIE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Triangle isocèle 32"/>
          <p:cNvSpPr/>
          <p:nvPr/>
        </p:nvSpPr>
        <p:spPr>
          <a:xfrm rot="5400000">
            <a:off x="379724" y="2660853"/>
            <a:ext cx="392339" cy="360940"/>
          </a:xfrm>
          <a:prstGeom prst="triangle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riangle isocèle 33"/>
          <p:cNvSpPr/>
          <p:nvPr/>
        </p:nvSpPr>
        <p:spPr>
          <a:xfrm rot="5400000">
            <a:off x="277590" y="3205719"/>
            <a:ext cx="392339" cy="360940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2344065" y="66776"/>
            <a:ext cx="8002980" cy="357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4313" y="2649897"/>
            <a:ext cx="37438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dirty="0"/>
              <a:t>C’est quoi un Cycle en Y</a:t>
            </a:r>
            <a:r>
              <a:rPr lang="en-US" dirty="0"/>
              <a:t>?</a:t>
            </a:r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/>
              <a:t>Pourquoi le Cycle en Y</a:t>
            </a:r>
            <a:r>
              <a:rPr lang="en-US" dirty="0"/>
              <a:t>?</a:t>
            </a:r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/>
              <a:t>               </a:t>
            </a:r>
            <a:endParaRPr lang="fr-FR" dirty="0"/>
          </a:p>
        </p:txBody>
      </p:sp>
      <p:pic>
        <p:nvPicPr>
          <p:cNvPr id="27" name="Picture 281"/>
          <p:cNvPicPr/>
          <p:nvPr/>
        </p:nvPicPr>
        <p:blipFill>
          <a:blip r:embed="rId1"/>
          <a:stretch>
            <a:fillRect/>
          </a:stretch>
        </p:blipFill>
        <p:spPr>
          <a:xfrm>
            <a:off x="5394960" y="1680210"/>
            <a:ext cx="6195060" cy="45948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6" name="Triangle isocèle 35"/>
          <p:cNvSpPr/>
          <p:nvPr/>
        </p:nvSpPr>
        <p:spPr>
          <a:xfrm rot="5400000">
            <a:off x="277489" y="2665299"/>
            <a:ext cx="392339" cy="360940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 descr="ensp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82420" cy="718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169"/>
          <p:cNvSpPr>
            <a:spLocks noChangeArrowheads="1"/>
          </p:cNvSpPr>
          <p:nvPr/>
        </p:nvSpPr>
        <p:spPr bwMode="auto">
          <a:xfrm>
            <a:off x="1510137" y="676079"/>
            <a:ext cx="1551191" cy="10148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82612" tIns="41306" rIns="82612" bIns="41306" anchor="ctr">
            <a:spAutoFit/>
          </a:bodyPr>
          <a:lstStyle/>
          <a:p>
            <a:pPr>
              <a:tabLst>
                <a:tab pos="320675" algn="l"/>
                <a:tab pos="1370965" algn="l"/>
              </a:tabLst>
            </a:pPr>
            <a:br>
              <a:rPr lang="fr-FR" sz="1625" dirty="0"/>
            </a:br>
            <a:endParaRPr lang="fr-FR" sz="1625" dirty="0"/>
          </a:p>
          <a:p>
            <a:pPr>
              <a:tabLst>
                <a:tab pos="320675" algn="l"/>
                <a:tab pos="1370965" algn="l"/>
              </a:tabLst>
            </a:pPr>
            <a:r>
              <a:rPr lang="fr-FR" sz="1175" dirty="0">
                <a:solidFill>
                  <a:srgbClr val="548DD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endParaRPr lang="fr-FR" sz="815" dirty="0"/>
          </a:p>
          <a:p>
            <a:pPr>
              <a:tabLst>
                <a:tab pos="320675" algn="l"/>
                <a:tab pos="1370965" algn="l"/>
              </a:tabLst>
            </a:pPr>
            <a:endParaRPr lang="fr-FR" sz="1625" dirty="0"/>
          </a:p>
        </p:txBody>
      </p:sp>
      <p:sp>
        <p:nvSpPr>
          <p:cNvPr id="17413" name="Rectangle 172"/>
          <p:cNvSpPr>
            <a:spLocks noChangeArrowheads="1"/>
          </p:cNvSpPr>
          <p:nvPr/>
        </p:nvSpPr>
        <p:spPr bwMode="auto">
          <a:xfrm>
            <a:off x="1510134" y="457227"/>
            <a:ext cx="166902" cy="3336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82612" tIns="41306" rIns="82612" bIns="41306" anchor="ctr">
            <a:spAutoFit/>
          </a:bodyPr>
          <a:lstStyle/>
          <a:p>
            <a:pPr>
              <a:tabLst>
                <a:tab pos="3740150" algn="l"/>
              </a:tabLst>
            </a:pPr>
            <a:endParaRPr lang="fr-FR" sz="1625" dirty="0"/>
          </a:p>
        </p:txBody>
      </p:sp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xfrm>
            <a:off x="1677036" y="543048"/>
            <a:ext cx="8911687" cy="1280890"/>
          </a:xfrm>
        </p:spPr>
        <p:txBody>
          <a:bodyPr/>
          <a:lstStyle/>
          <a:p>
            <a:r>
              <a:rPr lang="fr-FR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</a:rPr>
              <a:t>ACTEURS DU SYSTEME</a:t>
            </a:r>
            <a:endParaRPr lang="fr-FR" dirty="0">
              <a:ln>
                <a:solidFill>
                  <a:sysClr val="windowText" lastClr="000000"/>
                </a:solidFill>
              </a:ln>
              <a:solidFill>
                <a:srgbClr val="2FB8BF"/>
              </a:solidFill>
            </a:endParaRPr>
          </a:p>
        </p:txBody>
      </p:sp>
      <p:sp>
        <p:nvSpPr>
          <p:cNvPr id="25" name="Oval 71"/>
          <p:cNvSpPr/>
          <p:nvPr/>
        </p:nvSpPr>
        <p:spPr>
          <a:xfrm>
            <a:off x="3267075" y="1908810"/>
            <a:ext cx="2687955" cy="209931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0">
            <a:solidFill>
              <a:srgbClr val="66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Tw Cen MT" panose="020B0602020104020603" pitchFamily="34" charset="0"/>
            </a:endParaRPr>
          </a:p>
        </p:txBody>
      </p:sp>
      <p:sp>
        <p:nvSpPr>
          <p:cNvPr id="26" name="TextBox 4"/>
          <p:cNvSpPr txBox="1"/>
          <p:nvPr/>
        </p:nvSpPr>
        <p:spPr>
          <a:xfrm>
            <a:off x="3799572" y="3433096"/>
            <a:ext cx="1588199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fr-FR" altLang="ru-RU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Noto Sans" panose="020B0502040504020204" pitchFamily="34"/>
                <a:cs typeface="Times New Roman" panose="02020603050405020304" pitchFamily="18" charset="0"/>
              </a:rPr>
              <a:t>  DEMANDEURS</a:t>
            </a:r>
            <a:endParaRPr kumimoji="0" lang="fr-FR" altLang="ru-RU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27" name="Oval 71"/>
          <p:cNvSpPr/>
          <p:nvPr/>
        </p:nvSpPr>
        <p:spPr>
          <a:xfrm>
            <a:off x="6379210" y="643255"/>
            <a:ext cx="2783840" cy="217868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0">
            <a:solidFill>
              <a:srgbClr val="66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Tw Cen MT" panose="020B0602020104020603" pitchFamily="34" charset="0"/>
            </a:endParaRPr>
          </a:p>
        </p:txBody>
      </p:sp>
      <p:sp>
        <p:nvSpPr>
          <p:cNvPr id="28" name="Oval 71"/>
          <p:cNvSpPr/>
          <p:nvPr/>
        </p:nvSpPr>
        <p:spPr>
          <a:xfrm>
            <a:off x="9588148" y="2153905"/>
            <a:ext cx="2353930" cy="20764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0">
            <a:solidFill>
              <a:srgbClr val="66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Tw Cen MT" panose="020B0602020104020603" pitchFamily="34" charset="0"/>
            </a:endParaRPr>
          </a:p>
        </p:txBody>
      </p:sp>
      <p:sp>
        <p:nvSpPr>
          <p:cNvPr id="30" name="TextBox 4"/>
          <p:cNvSpPr txBox="1"/>
          <p:nvPr/>
        </p:nvSpPr>
        <p:spPr>
          <a:xfrm>
            <a:off x="10043834" y="3550912"/>
            <a:ext cx="162844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fr-FR" altLang="ru-RU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Noto Sans" panose="020B0502040504020204" pitchFamily="34"/>
                <a:cs typeface="Times New Roman" panose="02020603050405020304" pitchFamily="18" charset="0"/>
              </a:rPr>
              <a:t>AMBASSADES</a:t>
            </a:r>
            <a:endParaRPr kumimoji="0" lang="fr-FR" altLang="ru-RU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34" name="TextBox 4"/>
          <p:cNvSpPr txBox="1"/>
          <p:nvPr/>
        </p:nvSpPr>
        <p:spPr>
          <a:xfrm>
            <a:off x="6687185" y="2081530"/>
            <a:ext cx="21685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altLang="en-US" sz="1400" b="1" noProof="0" dirty="0">
                <a:latin typeface="Times New Roman" panose="02020603050405020304" pitchFamily="18" charset="0"/>
                <a:ea typeface="Noto Sans" panose="020B0502040504020204" pitchFamily="34"/>
                <a:cs typeface="Times New Roman" panose="02020603050405020304" pitchFamily="18" charset="0"/>
              </a:rPr>
              <a:t>     </a:t>
            </a:r>
            <a:r>
              <a:rPr lang="en-US" sz="1400" b="1" noProof="0" dirty="0">
                <a:latin typeface="Times New Roman" panose="02020603050405020304" pitchFamily="18" charset="0"/>
                <a:ea typeface="Noto Sans" panose="020B0502040504020204" pitchFamily="34"/>
                <a:cs typeface="Times New Roman" panose="02020603050405020304" pitchFamily="18" charset="0"/>
              </a:rPr>
              <a:t>ADMINISTRATEUR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grpSp>
        <p:nvGrpSpPr>
          <p:cNvPr id="41" name="Group 66"/>
          <p:cNvGrpSpPr/>
          <p:nvPr/>
        </p:nvGrpSpPr>
        <p:grpSpPr>
          <a:xfrm>
            <a:off x="10043834" y="2233841"/>
            <a:ext cx="1400396" cy="1209368"/>
            <a:chOff x="4930621" y="2636401"/>
            <a:chExt cx="911585" cy="1183777"/>
          </a:xfrm>
          <a:solidFill>
            <a:schemeClr val="tx1"/>
          </a:solidFill>
        </p:grpSpPr>
        <p:sp>
          <p:nvSpPr>
            <p:cNvPr id="42" name="Freeform 7"/>
            <p:cNvSpPr/>
            <p:nvPr/>
          </p:nvSpPr>
          <p:spPr bwMode="auto">
            <a:xfrm>
              <a:off x="4930621" y="3223385"/>
              <a:ext cx="911585" cy="596793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  <p:sp>
          <p:nvSpPr>
            <p:cNvPr id="43" name="Freeform 8"/>
            <p:cNvSpPr/>
            <p:nvPr/>
          </p:nvSpPr>
          <p:spPr bwMode="auto">
            <a:xfrm>
              <a:off x="5097853" y="2636401"/>
              <a:ext cx="603351" cy="600073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  <p:sp>
          <p:nvSpPr>
            <p:cNvPr id="44" name="Freeform 9"/>
            <p:cNvSpPr/>
            <p:nvPr/>
          </p:nvSpPr>
          <p:spPr bwMode="auto">
            <a:xfrm>
              <a:off x="5324111" y="3370915"/>
              <a:ext cx="124605" cy="236094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Tw Cen MT" panose="020B0602020104020603" pitchFamily="34" charset="0"/>
              </a:endParaRPr>
            </a:p>
          </p:txBody>
        </p:sp>
        <p:sp>
          <p:nvSpPr>
            <p:cNvPr id="45" name="Freeform 10"/>
            <p:cNvSpPr/>
            <p:nvPr/>
          </p:nvSpPr>
          <p:spPr bwMode="auto">
            <a:xfrm>
              <a:off x="5343785" y="3262706"/>
              <a:ext cx="91814" cy="75420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</p:grpSp>
      <p:grpSp>
        <p:nvGrpSpPr>
          <p:cNvPr id="46" name="Group 66"/>
          <p:cNvGrpSpPr/>
          <p:nvPr/>
        </p:nvGrpSpPr>
        <p:grpSpPr>
          <a:xfrm>
            <a:off x="7108919" y="870442"/>
            <a:ext cx="1222118" cy="1222740"/>
            <a:chOff x="4933899" y="2636401"/>
            <a:chExt cx="911585" cy="1196866"/>
          </a:xfrm>
          <a:solidFill>
            <a:schemeClr val="tx1"/>
          </a:solidFill>
        </p:grpSpPr>
        <p:sp>
          <p:nvSpPr>
            <p:cNvPr id="47" name="Freeform 7"/>
            <p:cNvSpPr/>
            <p:nvPr/>
          </p:nvSpPr>
          <p:spPr bwMode="auto">
            <a:xfrm>
              <a:off x="4933899" y="3236474"/>
              <a:ext cx="911585" cy="596793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  <p:sp>
          <p:nvSpPr>
            <p:cNvPr id="48" name="Freeform 8"/>
            <p:cNvSpPr/>
            <p:nvPr/>
          </p:nvSpPr>
          <p:spPr bwMode="auto">
            <a:xfrm>
              <a:off x="5097853" y="2636401"/>
              <a:ext cx="603351" cy="600073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  <p:sp>
          <p:nvSpPr>
            <p:cNvPr id="49" name="Freeform 9"/>
            <p:cNvSpPr/>
            <p:nvPr/>
          </p:nvSpPr>
          <p:spPr bwMode="auto">
            <a:xfrm>
              <a:off x="5324111" y="3370915"/>
              <a:ext cx="124605" cy="236094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  <p:sp>
          <p:nvSpPr>
            <p:cNvPr id="50" name="Freeform 10"/>
            <p:cNvSpPr/>
            <p:nvPr/>
          </p:nvSpPr>
          <p:spPr bwMode="auto">
            <a:xfrm>
              <a:off x="5343785" y="3262706"/>
              <a:ext cx="91814" cy="75420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</p:grpSp>
      <p:grpSp>
        <p:nvGrpSpPr>
          <p:cNvPr id="61" name="Group 66"/>
          <p:cNvGrpSpPr/>
          <p:nvPr/>
        </p:nvGrpSpPr>
        <p:grpSpPr>
          <a:xfrm>
            <a:off x="3979579" y="2050581"/>
            <a:ext cx="1239678" cy="1236185"/>
            <a:chOff x="4933899" y="2636401"/>
            <a:chExt cx="911585" cy="1196866"/>
          </a:xfrm>
          <a:solidFill>
            <a:schemeClr val="tx1"/>
          </a:solidFill>
        </p:grpSpPr>
        <p:sp>
          <p:nvSpPr>
            <p:cNvPr id="62" name="Freeform 7"/>
            <p:cNvSpPr/>
            <p:nvPr/>
          </p:nvSpPr>
          <p:spPr bwMode="auto">
            <a:xfrm>
              <a:off x="4933899" y="3236474"/>
              <a:ext cx="911585" cy="596793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097853" y="2636401"/>
              <a:ext cx="603351" cy="600073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  <p:sp>
          <p:nvSpPr>
            <p:cNvPr id="64" name="Freeform 9"/>
            <p:cNvSpPr/>
            <p:nvPr/>
          </p:nvSpPr>
          <p:spPr bwMode="auto">
            <a:xfrm>
              <a:off x="5324111" y="3370915"/>
              <a:ext cx="124605" cy="236094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  <p:sp>
          <p:nvSpPr>
            <p:cNvPr id="65" name="Freeform 10"/>
            <p:cNvSpPr/>
            <p:nvPr/>
          </p:nvSpPr>
          <p:spPr bwMode="auto">
            <a:xfrm>
              <a:off x="5343785" y="3262706"/>
              <a:ext cx="91814" cy="75420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</p:grpSp>
      <p:sp>
        <p:nvSpPr>
          <p:cNvPr id="71" name="TextBox 4"/>
          <p:cNvSpPr txBox="1"/>
          <p:nvPr/>
        </p:nvSpPr>
        <p:spPr>
          <a:xfrm>
            <a:off x="5774690" y="3256280"/>
            <a:ext cx="38131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latin typeface="Tw Cen MT" panose="020B0602020104020603" pitchFamily="34" charset="0"/>
                <a:ea typeface="Noto Sans Disp ExtBd" panose="020B0902040504020204" pitchFamily="34"/>
                <a:cs typeface="Noto Sans Disp ExtBd" panose="020B0902040504020204" pitchFamily="34"/>
              </a:rPr>
              <a:t>SYSTEME</a:t>
            </a:r>
            <a:endParaRPr kumimoji="0" lang="ru-RU" sz="5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2136503" y="50481"/>
            <a:ext cx="8002980" cy="4075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</a:rPr>
              <a:t> 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Oval 71"/>
          <p:cNvSpPr/>
          <p:nvPr/>
        </p:nvSpPr>
        <p:spPr>
          <a:xfrm>
            <a:off x="8696960" y="4488180"/>
            <a:ext cx="2857500" cy="22891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0">
            <a:solidFill>
              <a:srgbClr val="66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endParaRPr lang="fr-FR" altLang="ru-RU" b="1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  <a:sym typeface="+mn-ea"/>
            </a:endParaRPr>
          </a:p>
          <a:p>
            <a:pPr lvl="0">
              <a:defRPr/>
            </a:pPr>
            <a:endParaRPr lang="fr-FR" altLang="ru-RU" b="1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  <a:sym typeface="+mn-ea"/>
            </a:endParaRPr>
          </a:p>
          <a:p>
            <a:pPr lvl="0">
              <a:defRPr/>
            </a:pPr>
            <a:endParaRPr lang="fr-FR" altLang="ru-RU" b="1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  <a:sym typeface="+mn-ea"/>
            </a:endParaRPr>
          </a:p>
          <a:p>
            <a:pPr lvl="0">
              <a:defRPr/>
            </a:pPr>
            <a:endParaRPr lang="fr-FR" altLang="ru-RU" b="1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  <a:sym typeface="+mn-ea"/>
            </a:endParaRPr>
          </a:p>
          <a:p>
            <a:pPr lvl="0">
              <a:defRPr/>
            </a:pPr>
            <a:endParaRPr lang="fr-FR" altLang="ru-RU" b="1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  <a:sym typeface="+mn-ea"/>
            </a:endParaRPr>
          </a:p>
          <a:p>
            <a:pPr lvl="0" algn="ctr">
              <a:defRPr/>
            </a:pPr>
            <a:r>
              <a:rPr lang="fr-FR" altLang="ru-RU" sz="1400" b="1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Noto Sans" panose="020B0502040504020204" pitchFamily="34"/>
                <a:cs typeface="Times New Roman" panose="02020603050405020304" pitchFamily="18" charset="0"/>
                <a:sym typeface="+mn-ea"/>
              </a:rPr>
              <a:t>AGENTS              D’IMMIGRATION</a:t>
            </a:r>
            <a:endParaRPr lang="fr-FR" altLang="ru-RU" sz="1400" b="1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4" name="Group 66"/>
          <p:cNvGrpSpPr/>
          <p:nvPr/>
        </p:nvGrpSpPr>
        <p:grpSpPr>
          <a:xfrm>
            <a:off x="9492649" y="4592486"/>
            <a:ext cx="1239678" cy="1236185"/>
            <a:chOff x="4933899" y="2636401"/>
            <a:chExt cx="911585" cy="1196866"/>
          </a:xfrm>
          <a:solidFill>
            <a:schemeClr val="tx1"/>
          </a:solidFill>
        </p:grpSpPr>
        <p:sp>
          <p:nvSpPr>
            <p:cNvPr id="5" name="Freeform 7"/>
            <p:cNvSpPr/>
            <p:nvPr/>
          </p:nvSpPr>
          <p:spPr bwMode="auto">
            <a:xfrm>
              <a:off x="4933899" y="3236474"/>
              <a:ext cx="911585" cy="596793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  <p:sp>
          <p:nvSpPr>
            <p:cNvPr id="6" name="Freeform 8"/>
            <p:cNvSpPr/>
            <p:nvPr/>
          </p:nvSpPr>
          <p:spPr bwMode="auto">
            <a:xfrm>
              <a:off x="5097853" y="2636401"/>
              <a:ext cx="603351" cy="600073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  <p:sp>
          <p:nvSpPr>
            <p:cNvPr id="7" name="Freeform 9"/>
            <p:cNvSpPr/>
            <p:nvPr/>
          </p:nvSpPr>
          <p:spPr bwMode="auto">
            <a:xfrm>
              <a:off x="5324111" y="3370915"/>
              <a:ext cx="124605" cy="236094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  <p:sp>
          <p:nvSpPr>
            <p:cNvPr id="8" name="Freeform 10"/>
            <p:cNvSpPr/>
            <p:nvPr/>
          </p:nvSpPr>
          <p:spPr bwMode="auto">
            <a:xfrm>
              <a:off x="5343785" y="3262706"/>
              <a:ext cx="91814" cy="75420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</p:grpSp>
      <p:sp>
        <p:nvSpPr>
          <p:cNvPr id="14" name="Oval 71"/>
          <p:cNvSpPr/>
          <p:nvPr/>
        </p:nvSpPr>
        <p:spPr>
          <a:xfrm>
            <a:off x="3617595" y="4551045"/>
            <a:ext cx="2950210" cy="22809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0">
            <a:solidFill>
              <a:srgbClr val="66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endParaRPr lang="fr-FR" altLang="ru-RU" b="1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  <a:sym typeface="+mn-ea"/>
            </a:endParaRPr>
          </a:p>
          <a:p>
            <a:pPr lvl="0">
              <a:defRPr/>
            </a:pPr>
            <a:endParaRPr lang="fr-FR" altLang="ru-RU" b="1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  <a:sym typeface="+mn-ea"/>
            </a:endParaRPr>
          </a:p>
          <a:p>
            <a:pPr lvl="0">
              <a:defRPr/>
            </a:pPr>
            <a:endParaRPr lang="fr-FR" altLang="ru-RU" b="1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  <a:sym typeface="+mn-ea"/>
            </a:endParaRPr>
          </a:p>
          <a:p>
            <a:pPr lvl="0">
              <a:defRPr/>
            </a:pPr>
            <a:endParaRPr lang="fr-FR" altLang="ru-RU" b="1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  <a:sym typeface="+mn-ea"/>
            </a:endParaRPr>
          </a:p>
          <a:p>
            <a:pPr lvl="0" algn="ctr">
              <a:defRPr/>
            </a:pPr>
            <a:r>
              <a:rPr lang="fr-FR" altLang="ru-RU" sz="1400" b="1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Noto Sans" panose="020B0502040504020204" pitchFamily="34"/>
                <a:cs typeface="Times New Roman" panose="02020603050405020304" pitchFamily="18" charset="0"/>
                <a:sym typeface="+mn-ea"/>
              </a:rPr>
              <a:t>AGENTS CONTROLES FRONTIERES</a:t>
            </a:r>
            <a:endParaRPr lang="fr-FR" altLang="ru-RU" sz="1400" b="1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15" name="Group 66"/>
          <p:cNvGrpSpPr/>
          <p:nvPr/>
        </p:nvGrpSpPr>
        <p:grpSpPr>
          <a:xfrm>
            <a:off x="4465354" y="4635031"/>
            <a:ext cx="1239678" cy="1236185"/>
            <a:chOff x="4933899" y="2636401"/>
            <a:chExt cx="911585" cy="1196866"/>
          </a:xfrm>
          <a:solidFill>
            <a:schemeClr val="tx1"/>
          </a:solidFill>
        </p:grpSpPr>
        <p:sp>
          <p:nvSpPr>
            <p:cNvPr id="16" name="Freeform 7"/>
            <p:cNvSpPr/>
            <p:nvPr/>
          </p:nvSpPr>
          <p:spPr bwMode="auto">
            <a:xfrm>
              <a:off x="4933899" y="3236474"/>
              <a:ext cx="911585" cy="596793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5097853" y="2636401"/>
              <a:ext cx="603351" cy="600073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5324111" y="3370915"/>
              <a:ext cx="124605" cy="236094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5343785" y="3262706"/>
              <a:ext cx="91814" cy="75420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>
                <a:latin typeface="Tw Cen MT" panose="020B0602020104020603" pitchFamily="34" charset="0"/>
              </a:endParaRPr>
            </a:p>
          </p:txBody>
        </p:sp>
      </p:grpSp>
      <p:pic>
        <p:nvPicPr>
          <p:cNvPr id="20" name="Image 19" descr="ensp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3850" cy="718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818564" y="789127"/>
            <a:ext cx="97410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DES ACTEURS ET LEURS FONCTIONNALITÉS 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36503" y="50481"/>
            <a:ext cx="8002980" cy="4075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12" name="Groupe 11"/>
          <p:cNvGrpSpPr/>
          <p:nvPr/>
        </p:nvGrpSpPr>
        <p:grpSpPr>
          <a:xfrm>
            <a:off x="207645" y="1601470"/>
            <a:ext cx="11898630" cy="1140001"/>
            <a:chOff x="207344" y="3554812"/>
            <a:chExt cx="11898629" cy="1132236"/>
          </a:xfrm>
        </p:grpSpPr>
        <p:sp useBgFill="1">
          <p:nvSpPr>
            <p:cNvPr id="13" name="Organigramme : Préparation 12"/>
            <p:cNvSpPr/>
            <p:nvPr/>
          </p:nvSpPr>
          <p:spPr>
            <a:xfrm>
              <a:off x="207344" y="3695453"/>
              <a:ext cx="3632200" cy="810417"/>
            </a:xfrm>
            <a:prstGeom prst="flowChartPreparation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L’administrateur</a:t>
              </a:r>
              <a:endParaRPr lang="fr-F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4" name="Groupe 13"/>
            <p:cNvGrpSpPr/>
            <p:nvPr/>
          </p:nvGrpSpPr>
          <p:grpSpPr>
            <a:xfrm>
              <a:off x="3839543" y="3554812"/>
              <a:ext cx="8266430" cy="1132236"/>
              <a:chOff x="3839543" y="3554812"/>
              <a:chExt cx="8266430" cy="1132236"/>
            </a:xfrm>
          </p:grpSpPr>
          <p:grpSp>
            <p:nvGrpSpPr>
              <p:cNvPr id="15" name="Groupe 14"/>
              <p:cNvGrpSpPr/>
              <p:nvPr/>
            </p:nvGrpSpPr>
            <p:grpSpPr>
              <a:xfrm>
                <a:off x="3839543" y="3554812"/>
                <a:ext cx="8266430" cy="1055493"/>
                <a:chOff x="5365844" y="2888281"/>
                <a:chExt cx="6621800" cy="1414849"/>
              </a:xfrm>
              <a:solidFill>
                <a:schemeClr val="tx1"/>
              </a:solidFill>
            </p:grpSpPr>
            <p:sp useBgFill="1">
              <p:nvSpPr>
                <p:cNvPr id="17" name="Flèche : pentagone 16"/>
                <p:cNvSpPr/>
                <p:nvPr/>
              </p:nvSpPr>
              <p:spPr>
                <a:xfrm rot="10800000">
                  <a:off x="5365844" y="2925496"/>
                  <a:ext cx="6621800" cy="1377634"/>
                </a:xfrm>
                <a:prstGeom prst="homePlat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srgbClr val="00BFFF"/>
                    </a:solidFill>
                  </a:endParaRPr>
                </a:p>
              </p:txBody>
            </p:sp>
            <p:sp>
              <p:nvSpPr>
                <p:cNvPr id="18" name="ZoneTexte 17"/>
                <p:cNvSpPr txBox="1"/>
                <p:nvPr/>
              </p:nvSpPr>
              <p:spPr>
                <a:xfrm>
                  <a:off x="5504201" y="2888281"/>
                  <a:ext cx="2927875" cy="14148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 lvl="1"/>
                  <a:r>
                    <a:rPr lang="fr-FR" sz="20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 Gérer utilisateurs et leurs roles </a:t>
                  </a:r>
                  <a:endPara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285750" indent="-285750">
                    <a:buFontTx/>
                    <a:buChar char="-"/>
                  </a:pPr>
                  <a:r>
                    <a:rPr lang="fr-FR" sz="20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supervise statistiques</a:t>
                  </a:r>
                  <a:endPara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indent="0">
                    <a:buFontTx/>
                    <a:buNone/>
                  </a:pPr>
                  <a:r>
                    <a:rPr lang="fr-FR" sz="2000" dirty="0">
                      <a:solidFill>
                        <a:srgbClr val="FF0000"/>
                      </a:solidFill>
                    </a:rPr>
                    <a:t> </a:t>
                  </a:r>
                  <a:endParaRPr lang="fr-FR" sz="2000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16" name="ZoneTexte 15"/>
              <p:cNvSpPr txBox="1"/>
              <p:nvPr/>
            </p:nvSpPr>
            <p:spPr>
              <a:xfrm>
                <a:off x="7584138" y="3679230"/>
                <a:ext cx="4521835" cy="10078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Tx/>
                  <a:buChar char="-"/>
                </a:pPr>
                <a:r>
                  <a: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configure les parametres du systeme</a:t>
                </a:r>
                <a:endPara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>
                  <a:buFontTx/>
                  <a:buNone/>
                </a:pPr>
                <a:endPara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Tx/>
                  <a:buChar char="-"/>
                </a:pPr>
                <a:r>
                  <a: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assure la maintenance du site</a:t>
                </a:r>
                <a:endPara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6" name="Groupe 11"/>
          <p:cNvGrpSpPr/>
          <p:nvPr/>
        </p:nvGrpSpPr>
        <p:grpSpPr>
          <a:xfrm>
            <a:off x="302895" y="2683510"/>
            <a:ext cx="11898630" cy="922020"/>
            <a:chOff x="207344" y="3554812"/>
            <a:chExt cx="11898629" cy="1056265"/>
          </a:xfrm>
        </p:grpSpPr>
        <p:sp useBgFill="1">
          <p:nvSpPr>
            <p:cNvPr id="27" name="Organigramme : Préparation 12"/>
            <p:cNvSpPr/>
            <p:nvPr/>
          </p:nvSpPr>
          <p:spPr>
            <a:xfrm>
              <a:off x="207344" y="3673387"/>
              <a:ext cx="3632200" cy="937690"/>
            </a:xfrm>
            <a:prstGeom prst="flowChartPreparation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demandeurs</a:t>
              </a:r>
              <a:endParaRPr lang="fr-F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8" name="Groupe 13"/>
            <p:cNvGrpSpPr/>
            <p:nvPr/>
          </p:nvGrpSpPr>
          <p:grpSpPr>
            <a:xfrm>
              <a:off x="3839543" y="3554812"/>
              <a:ext cx="8266430" cy="1055493"/>
              <a:chOff x="3839543" y="3554812"/>
              <a:chExt cx="8266430" cy="1055493"/>
            </a:xfrm>
          </p:grpSpPr>
          <p:grpSp>
            <p:nvGrpSpPr>
              <p:cNvPr id="29" name="Groupe 14"/>
              <p:cNvGrpSpPr/>
              <p:nvPr/>
            </p:nvGrpSpPr>
            <p:grpSpPr>
              <a:xfrm>
                <a:off x="3839543" y="3554812"/>
                <a:ext cx="8266430" cy="1055493"/>
                <a:chOff x="5365844" y="2888281"/>
                <a:chExt cx="6621800" cy="1414849"/>
              </a:xfrm>
              <a:solidFill>
                <a:schemeClr val="tx1"/>
              </a:solidFill>
            </p:grpSpPr>
            <p:sp useBgFill="1">
              <p:nvSpPr>
                <p:cNvPr id="30" name="Flèche : pentagone 16"/>
                <p:cNvSpPr/>
                <p:nvPr/>
              </p:nvSpPr>
              <p:spPr>
                <a:xfrm rot="10800000">
                  <a:off x="5365844" y="2925496"/>
                  <a:ext cx="6621800" cy="1377634"/>
                </a:xfrm>
                <a:prstGeom prst="homePlat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srgbClr val="00BFFF"/>
                    </a:solidFill>
                  </a:endParaRPr>
                </a:p>
              </p:txBody>
            </p:sp>
            <p:sp>
              <p:nvSpPr>
                <p:cNvPr id="31" name="ZoneTexte 17"/>
                <p:cNvSpPr txBox="1"/>
                <p:nvPr/>
              </p:nvSpPr>
              <p:spPr>
                <a:xfrm>
                  <a:off x="5504201" y="2888281"/>
                  <a:ext cx="2927875" cy="14148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 lvl="1"/>
                  <a:r>
                    <a:rPr lang="fr-FR" sz="20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 cree un compte</a:t>
                  </a:r>
                  <a:endPara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lvl="1"/>
                  <a:r>
                    <a:rPr lang="fr-FR" sz="20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 effectue paiement </a:t>
                  </a:r>
                  <a:endPara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indent="0">
                    <a:buFontTx/>
                    <a:buNone/>
                  </a:pPr>
                  <a:r>
                    <a:rPr lang="fr-FR" sz="20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- soumet sa demande</a:t>
                  </a:r>
                  <a:endPara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indent="0">
                    <a:buFontTx/>
                    <a:buNone/>
                  </a:pPr>
                  <a:r>
                    <a:rPr lang="fr-FR" sz="2000" dirty="0">
                      <a:solidFill>
                        <a:srgbClr val="FF0000"/>
                      </a:solidFill>
                    </a:rPr>
                    <a:t> </a:t>
                  </a:r>
                  <a:endParaRPr lang="fr-FR" sz="2000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32" name="ZoneTexte 15"/>
              <p:cNvSpPr txBox="1"/>
              <p:nvPr/>
            </p:nvSpPr>
            <p:spPr>
              <a:xfrm>
                <a:off x="7584138" y="3679230"/>
                <a:ext cx="4521835" cy="809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indent="0">
                  <a:buFontTx/>
                  <a:buNone/>
                </a:pPr>
                <a:r>
                  <a: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-suit le statut de sa demande</a:t>
                </a:r>
                <a:endPara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>
                  <a:buFontTx/>
                  <a:buNone/>
                </a:pPr>
                <a:r>
                  <a: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telecharge l’e-visa sous format PDF</a:t>
                </a:r>
                <a:endPara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3" name="Groupe 11"/>
          <p:cNvGrpSpPr/>
          <p:nvPr/>
        </p:nvGrpSpPr>
        <p:grpSpPr>
          <a:xfrm>
            <a:off x="302895" y="3624580"/>
            <a:ext cx="11898630" cy="922020"/>
            <a:chOff x="207344" y="3554812"/>
            <a:chExt cx="11898629" cy="1056265"/>
          </a:xfrm>
        </p:grpSpPr>
        <p:sp useBgFill="1">
          <p:nvSpPr>
            <p:cNvPr id="34" name="Organigramme : Préparation 12"/>
            <p:cNvSpPr/>
            <p:nvPr/>
          </p:nvSpPr>
          <p:spPr>
            <a:xfrm>
              <a:off x="207344" y="3673387"/>
              <a:ext cx="3632200" cy="937690"/>
            </a:xfrm>
            <a:prstGeom prst="flowChartPreparation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ambassade</a:t>
              </a:r>
              <a:endParaRPr lang="fr-F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Groupe 14"/>
            <p:cNvGrpSpPr/>
            <p:nvPr/>
          </p:nvGrpSpPr>
          <p:grpSpPr>
            <a:xfrm rot="0">
              <a:off x="3839543" y="3554812"/>
              <a:ext cx="8266430" cy="1055538"/>
              <a:chOff x="5365844" y="2888281"/>
              <a:chExt cx="6621800" cy="1414909"/>
            </a:xfrm>
            <a:solidFill>
              <a:schemeClr val="tx1"/>
            </a:solidFill>
          </p:grpSpPr>
          <p:sp useBgFill="1">
            <p:nvSpPr>
              <p:cNvPr id="37" name="Flèche : pentagone 16"/>
              <p:cNvSpPr/>
              <p:nvPr/>
            </p:nvSpPr>
            <p:spPr>
              <a:xfrm rot="10800000">
                <a:off x="5365844" y="2925496"/>
                <a:ext cx="6621800" cy="1377634"/>
              </a:xfrm>
              <a:prstGeom prst="homePlat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rgbClr val="00BFFF"/>
                  </a:solidFill>
                </a:endParaRPr>
              </a:p>
            </p:txBody>
          </p:sp>
          <p:sp>
            <p:nvSpPr>
              <p:cNvPr id="38" name="ZoneTexte 17"/>
              <p:cNvSpPr txBox="1"/>
              <p:nvPr/>
            </p:nvSpPr>
            <p:spPr>
              <a:xfrm>
                <a:off x="5504201" y="2888281"/>
                <a:ext cx="6403074" cy="14149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noAutofit/>
              </a:bodyPr>
              <a:lstStyle/>
              <a:p>
                <a:pPr lvl="1"/>
                <a:r>
                  <a: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consulte demande de leur zone geographique  </a:t>
                </a:r>
                <a:endPara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fournis un avis consultatif </a:t>
                </a:r>
                <a:endPara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>
                  <a:buFontTx/>
                  <a:buNone/>
                </a:pPr>
                <a:r>
                  <a: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- approuve / rejete la demande d’e-visa</a:t>
                </a:r>
                <a:endPara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>
                  <a:buFontTx/>
                  <a:buNone/>
                </a:pPr>
                <a:r>
                  <a:rPr lang="fr-FR" sz="2000" dirty="0">
                    <a:solidFill>
                      <a:srgbClr val="FF0000"/>
                    </a:solidFill>
                  </a:rPr>
                  <a:t> </a:t>
                </a:r>
                <a:endParaRPr lang="fr-FR" sz="2000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40" name="Groupe 11"/>
          <p:cNvGrpSpPr/>
          <p:nvPr/>
        </p:nvGrpSpPr>
        <p:grpSpPr>
          <a:xfrm>
            <a:off x="302895" y="4592320"/>
            <a:ext cx="11898630" cy="922020"/>
            <a:chOff x="207344" y="3554812"/>
            <a:chExt cx="11898629" cy="1056265"/>
          </a:xfrm>
        </p:grpSpPr>
        <p:sp useBgFill="1">
          <p:nvSpPr>
            <p:cNvPr id="41" name="Organigramme : Préparation 12"/>
            <p:cNvSpPr/>
            <p:nvPr/>
          </p:nvSpPr>
          <p:spPr>
            <a:xfrm>
              <a:off x="207344" y="3673387"/>
              <a:ext cx="3632200" cy="937690"/>
            </a:xfrm>
            <a:prstGeom prst="flowChartPreparation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agent controle frontieres</a:t>
              </a:r>
              <a:endParaRPr lang="fr-F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Groupe 14"/>
            <p:cNvGrpSpPr/>
            <p:nvPr/>
          </p:nvGrpSpPr>
          <p:grpSpPr>
            <a:xfrm rot="0">
              <a:off x="3839543" y="3554812"/>
              <a:ext cx="8266430" cy="1055538"/>
              <a:chOff x="5365844" y="2888281"/>
              <a:chExt cx="6621800" cy="1414909"/>
            </a:xfrm>
            <a:solidFill>
              <a:schemeClr val="tx1"/>
            </a:solidFill>
          </p:grpSpPr>
          <p:sp useBgFill="1">
            <p:nvSpPr>
              <p:cNvPr id="44" name="Flèche : pentagone 16"/>
              <p:cNvSpPr/>
              <p:nvPr/>
            </p:nvSpPr>
            <p:spPr>
              <a:xfrm rot="10800000">
                <a:off x="5365844" y="2925496"/>
                <a:ext cx="6621800" cy="1377634"/>
              </a:xfrm>
              <a:prstGeom prst="homePlat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rgbClr val="00BFFF"/>
                  </a:solidFill>
                </a:endParaRPr>
              </a:p>
            </p:txBody>
          </p:sp>
          <p:sp>
            <p:nvSpPr>
              <p:cNvPr id="45" name="ZoneTexte 17"/>
              <p:cNvSpPr txBox="1"/>
              <p:nvPr/>
            </p:nvSpPr>
            <p:spPr>
              <a:xfrm>
                <a:off x="5504201" y="2888281"/>
                <a:ext cx="6483443" cy="14149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noAutofit/>
              </a:bodyPr>
              <a:lstStyle/>
              <a:p>
                <a:pPr lvl="1"/>
                <a:r>
                  <a: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verifie l’authenticite de l’e-visa</a:t>
                </a:r>
                <a:endPara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consulte les donnees biometrique</a:t>
                </a:r>
                <a:endPara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>
                  <a:buFontTx/>
                  <a:buNone/>
                </a:pPr>
                <a:r>
                  <a: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- valide l’entree et la sortie du territoire au demandeur</a:t>
                </a:r>
                <a:endPara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>
                  <a:buFontTx/>
                  <a:buNone/>
                </a:pPr>
                <a:r>
                  <a:rPr lang="fr-FR" sz="2000" dirty="0">
                    <a:solidFill>
                      <a:srgbClr val="FF0000"/>
                    </a:solidFill>
                  </a:rPr>
                  <a:t> </a:t>
                </a:r>
                <a:endParaRPr lang="fr-FR" sz="2000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47" name="Groupe 11"/>
          <p:cNvGrpSpPr/>
          <p:nvPr/>
        </p:nvGrpSpPr>
        <p:grpSpPr>
          <a:xfrm>
            <a:off x="207645" y="5734050"/>
            <a:ext cx="11898630" cy="922020"/>
            <a:chOff x="207344" y="3554812"/>
            <a:chExt cx="11898629" cy="1056265"/>
          </a:xfrm>
        </p:grpSpPr>
        <p:sp useBgFill="1">
          <p:nvSpPr>
            <p:cNvPr id="48" name="Organigramme : Préparation 12"/>
            <p:cNvSpPr/>
            <p:nvPr/>
          </p:nvSpPr>
          <p:spPr>
            <a:xfrm>
              <a:off x="207344" y="3673387"/>
              <a:ext cx="3632200" cy="937690"/>
            </a:xfrm>
            <a:prstGeom prst="flowChartPreparation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agent d’immigration</a:t>
              </a:r>
              <a:endParaRPr lang="fr-F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Groupe 14"/>
            <p:cNvGrpSpPr/>
            <p:nvPr/>
          </p:nvGrpSpPr>
          <p:grpSpPr>
            <a:xfrm rot="0">
              <a:off x="3839543" y="3554812"/>
              <a:ext cx="8266430" cy="1055538"/>
              <a:chOff x="5365844" y="2888281"/>
              <a:chExt cx="6621800" cy="1414909"/>
            </a:xfrm>
            <a:solidFill>
              <a:schemeClr val="tx1"/>
            </a:solidFill>
          </p:grpSpPr>
          <p:sp useBgFill="1">
            <p:nvSpPr>
              <p:cNvPr id="50" name="Flèche : pentagone 16"/>
              <p:cNvSpPr/>
              <p:nvPr/>
            </p:nvSpPr>
            <p:spPr>
              <a:xfrm rot="10800000">
                <a:off x="5365844" y="2925496"/>
                <a:ext cx="6621800" cy="1377634"/>
              </a:xfrm>
              <a:prstGeom prst="homePlat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rgbClr val="00BFFF"/>
                  </a:solidFill>
                </a:endParaRPr>
              </a:p>
            </p:txBody>
          </p:sp>
          <p:sp>
            <p:nvSpPr>
              <p:cNvPr id="51" name="ZoneTexte 17"/>
              <p:cNvSpPr txBox="1"/>
              <p:nvPr/>
            </p:nvSpPr>
            <p:spPr>
              <a:xfrm>
                <a:off x="5504201" y="2888281"/>
                <a:ext cx="6483443" cy="14149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noAutofit/>
              </a:bodyPr>
              <a:lstStyle/>
              <a:p>
                <a:pPr lvl="1"/>
                <a:r>
                  <a: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examine les demandes </a:t>
                </a:r>
                <a:endPara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verifie les documents et donnees biometriques </a:t>
                </a:r>
                <a:endPara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>
                  <a:buFontTx/>
                  <a:buNone/>
                </a:pPr>
                <a:r>
                  <a:rPr lang="fr-FR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- approuve ou rejette les demandes </a:t>
                </a:r>
                <a:endParaRPr lang="fr-F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>
                  <a:buFontTx/>
                  <a:buNone/>
                </a:pPr>
                <a:r>
                  <a:rPr lang="fr-FR" sz="2000" dirty="0">
                    <a:solidFill>
                      <a:srgbClr val="FF0000"/>
                    </a:solidFill>
                  </a:rPr>
                  <a:t> </a:t>
                </a:r>
                <a:endParaRPr lang="fr-FR" sz="2000" dirty="0">
                  <a:solidFill>
                    <a:srgbClr val="FF0000"/>
                  </a:solidFill>
                </a:endParaRPr>
              </a:p>
            </p:txBody>
          </p:sp>
        </p:grpSp>
      </p:grpSp>
      <p:pic>
        <p:nvPicPr>
          <p:cNvPr id="52" name="Image 51" descr="ensp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05280" cy="718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1600" y="1726014"/>
            <a:ext cx="4466104" cy="4137430"/>
          </a:xfrm>
          <a:prstGeom prst="rect">
            <a:avLst/>
          </a:prstGeom>
        </p:spPr>
      </p:pic>
      <p:sp>
        <p:nvSpPr>
          <p:cNvPr id="3" name="Rectangle : coins arrondis 2"/>
          <p:cNvSpPr/>
          <p:nvPr/>
        </p:nvSpPr>
        <p:spPr>
          <a:xfrm>
            <a:off x="3998874" y="2819400"/>
            <a:ext cx="7393026" cy="1562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DE QUELQUES DIAGRAMMES</a:t>
            </a:r>
            <a:endParaRPr lang="fr-FR" sz="28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36503" y="50481"/>
            <a:ext cx="8002980" cy="4075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2" name="Image 11" descr="ensp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41475" cy="718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re 19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688486" cy="850360"/>
          </a:xfrm>
        </p:spPr>
        <p:txBody>
          <a:bodyPr/>
          <a:lstStyle/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METHODOLOGIE: </a:t>
            </a:r>
            <a:r>
              <a:rPr lang="fr-FR" sz="1800" dirty="0">
                <a:solidFill>
                  <a:schemeClr val="accent6">
                    <a:lumMod val="75000"/>
                  </a:schemeClr>
                </a:solidFill>
              </a:rPr>
              <a:t>Diagramme de cas d’utilisation global </a:t>
            </a:r>
            <a:endParaRPr lang="fr-FR" sz="1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94510" y="115009"/>
            <a:ext cx="8002980" cy="5091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4" name="Imag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5530" y="1236980"/>
            <a:ext cx="7761605" cy="5495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 11" descr="ensp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5280" cy="718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re 19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</a:rPr>
              <a:t>METHODOLOGIE: </a:t>
            </a:r>
            <a:r>
              <a:rPr lang="fr-FR" sz="2000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</a:rPr>
              <a:t>DiagrammeS de séquence authentification 2FA et soumettre la demande d’e-visa  </a:t>
            </a:r>
            <a:br>
              <a:rPr lang="fr-FR" dirty="0">
                <a:solidFill>
                  <a:schemeClr val="tx1"/>
                </a:solidFill>
              </a:rPr>
            </a:br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2166221" y="148894"/>
            <a:ext cx="8002980" cy="4752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</a:rPr>
              <a:t> 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9" name="Image 19" descr="seq aut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070" y="1631315"/>
            <a:ext cx="5662295" cy="5104130"/>
          </a:xfrm>
          <a:prstGeom prst="rect">
            <a:avLst/>
          </a:prstGeom>
        </p:spPr>
      </p:pic>
      <p:pic>
        <p:nvPicPr>
          <p:cNvPr id="18" name="Image 18" descr="soum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235" y="1541145"/>
            <a:ext cx="5993765" cy="5194300"/>
          </a:xfrm>
          <a:prstGeom prst="rect">
            <a:avLst/>
          </a:prstGeom>
        </p:spPr>
      </p:pic>
      <p:pic>
        <p:nvPicPr>
          <p:cNvPr id="12" name="Image 11" descr="ensp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17345" cy="718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re 1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</a:rPr>
              <a:t>METHODOLOGIE: </a:t>
            </a:r>
            <a:r>
              <a:rPr lang="fr-FR" sz="2000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</a:rPr>
              <a:t>Diagramme de classe</a:t>
            </a:r>
            <a:br>
              <a:rPr lang="fr-FR" sz="2000" dirty="0">
                <a:solidFill>
                  <a:schemeClr val="tx1"/>
                </a:solidFill>
              </a:rPr>
            </a:br>
            <a:endParaRPr lang="fr-FR" sz="2000" dirty="0"/>
          </a:p>
        </p:txBody>
      </p:sp>
      <p:sp>
        <p:nvSpPr>
          <p:cNvPr id="7" name="Rectangle 6"/>
          <p:cNvSpPr/>
          <p:nvPr/>
        </p:nvSpPr>
        <p:spPr>
          <a:xfrm>
            <a:off x="2094510" y="123390"/>
            <a:ext cx="8002980" cy="500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</a:rPr>
              <a:t> 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1" name="Image 21" descr="class glob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4360" y="1219200"/>
            <a:ext cx="8842375" cy="5235575"/>
          </a:xfrm>
          <a:prstGeom prst="rect">
            <a:avLst/>
          </a:prstGeom>
        </p:spPr>
      </p:pic>
      <p:pic>
        <p:nvPicPr>
          <p:cNvPr id="12" name="Image 11" descr="ensp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58925" cy="718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169994" y="613728"/>
            <a:ext cx="870727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ln>
                  <a:solidFill>
                    <a:sysClr val="windowText" lastClr="000000"/>
                  </a:solidFill>
                </a:ln>
                <a:solidFill>
                  <a:srgbClr val="6699FF"/>
                </a:solidFill>
              </a:rPr>
              <a:t>METHODOLOGIE</a:t>
            </a:r>
            <a:r>
              <a:rPr lang="fr-FR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</a:rPr>
              <a:t>: </a:t>
            </a:r>
            <a:r>
              <a:rPr lang="fr-FR" sz="2000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</a:rPr>
              <a:t>Diagramme de composants</a:t>
            </a:r>
            <a:endParaRPr lang="en-US" altLang="fr-FR" sz="2000" dirty="0">
              <a:ln>
                <a:solidFill>
                  <a:sysClr val="windowText" lastClr="000000"/>
                </a:solidFill>
              </a:ln>
              <a:solidFill>
                <a:srgbClr val="2FB8B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35999" y="63810"/>
            <a:ext cx="8002980" cy="5061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</a:rPr>
              <a:t> 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6" name="Imag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1263650"/>
            <a:ext cx="10547350" cy="5206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 11" descr="ensp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42110" cy="718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94510" y="63811"/>
            <a:ext cx="8002980" cy="5061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</a:rPr>
              <a:t> 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886502" y="934450"/>
            <a:ext cx="6100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</a:rPr>
              <a:t>METHODOLOGIE</a:t>
            </a:r>
            <a:endParaRPr lang="en-US" sz="3600" dirty="0"/>
          </a:p>
        </p:txBody>
      </p:sp>
      <p:sp>
        <p:nvSpPr>
          <p:cNvPr id="8" name="Rectangle 7"/>
          <p:cNvSpPr/>
          <p:nvPr/>
        </p:nvSpPr>
        <p:spPr>
          <a:xfrm>
            <a:off x="1209602" y="1760605"/>
            <a:ext cx="33538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dirty="0"/>
              <a:t>Architecture physique 3-tiers</a:t>
            </a:r>
            <a:endParaRPr lang="fr-FR" dirty="0"/>
          </a:p>
          <a:p>
            <a:pPr algn="ctr"/>
            <a:endParaRPr lang="fr-FR" dirty="0"/>
          </a:p>
        </p:txBody>
      </p:sp>
      <p:sp>
        <p:nvSpPr>
          <p:cNvPr id="9" name="Triangle isocèle 8"/>
          <p:cNvSpPr/>
          <p:nvPr/>
        </p:nvSpPr>
        <p:spPr>
          <a:xfrm rot="5400000">
            <a:off x="926908" y="1792871"/>
            <a:ext cx="260584" cy="304800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" name="Groupe 9"/>
          <p:cNvGrpSpPr/>
          <p:nvPr/>
        </p:nvGrpSpPr>
        <p:grpSpPr>
          <a:xfrm>
            <a:off x="362858" y="2504280"/>
            <a:ext cx="2317328" cy="2744198"/>
            <a:chOff x="399904" y="2538007"/>
            <a:chExt cx="2317328" cy="2744198"/>
          </a:xfrm>
        </p:grpSpPr>
        <p:pic>
          <p:nvPicPr>
            <p:cNvPr id="11" name="Image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9904" y="2538007"/>
              <a:ext cx="2317328" cy="2317328"/>
            </a:xfrm>
            <a:prstGeom prst="rect">
              <a:avLst/>
            </a:prstGeom>
          </p:spPr>
        </p:pic>
        <p:sp>
          <p:nvSpPr>
            <p:cNvPr id="12" name="ZoneTexte 11"/>
            <p:cNvSpPr txBox="1"/>
            <p:nvPr/>
          </p:nvSpPr>
          <p:spPr>
            <a:xfrm>
              <a:off x="954836" y="4912873"/>
              <a:ext cx="1449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reflection blurRad="6350" stA="53000" endA="300" endPos="35500" dir="5400000" sy="-90000" algn="bl" rotWithShape="0"/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utilisateurs</a:t>
              </a:r>
              <a:endParaRPr lang="fr-FR" b="1" dirty="0">
                <a:ln w="0"/>
                <a:solidFill>
                  <a:schemeClr val="tx1">
                    <a:lumMod val="9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Flèche : droite 37"/>
          <p:cNvSpPr/>
          <p:nvPr/>
        </p:nvSpPr>
        <p:spPr>
          <a:xfrm rot="20546975">
            <a:off x="2507253" y="2744057"/>
            <a:ext cx="2998172" cy="162750"/>
          </a:xfrm>
          <a:prstGeom prst="rightArrow">
            <a:avLst/>
          </a:prstGeom>
          <a:noFill/>
          <a:ln w="19050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Organigramme : Alternative 38"/>
          <p:cNvSpPr/>
          <p:nvPr/>
        </p:nvSpPr>
        <p:spPr>
          <a:xfrm rot="20540565">
            <a:off x="2387759" y="2721006"/>
            <a:ext cx="1095693" cy="305597"/>
          </a:xfrm>
          <a:prstGeom prst="flowChartAlternateProcess">
            <a:avLst/>
          </a:prstGeom>
          <a:solidFill>
            <a:schemeClr val="tx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Requête</a:t>
            </a:r>
            <a:endParaRPr lang="fr-FR" dirty="0"/>
          </a:p>
        </p:txBody>
      </p:sp>
      <p:grpSp>
        <p:nvGrpSpPr>
          <p:cNvPr id="40" name="Groupe 39"/>
          <p:cNvGrpSpPr/>
          <p:nvPr/>
        </p:nvGrpSpPr>
        <p:grpSpPr>
          <a:xfrm>
            <a:off x="5281613" y="1912045"/>
            <a:ext cx="1587893" cy="1731858"/>
            <a:chOff x="5932072" y="1902544"/>
            <a:chExt cx="1587893" cy="1731858"/>
          </a:xfrm>
        </p:grpSpPr>
        <p:pic>
          <p:nvPicPr>
            <p:cNvPr id="41" name="Image 4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74712" y="1902544"/>
              <a:ext cx="753250" cy="1059258"/>
            </a:xfrm>
            <a:prstGeom prst="rect">
              <a:avLst/>
            </a:prstGeom>
          </p:spPr>
        </p:pic>
        <p:sp>
          <p:nvSpPr>
            <p:cNvPr id="42" name="ZoneTexte 41"/>
            <p:cNvSpPr txBox="1"/>
            <p:nvPr/>
          </p:nvSpPr>
          <p:spPr>
            <a:xfrm>
              <a:off x="5932072" y="2988071"/>
              <a:ext cx="15878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reflection blurRad="6350" stA="53000" endA="300" endPos="35500" dir="5400000" sy="-90000" algn="bl" rotWithShape="0"/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Serveur d’application</a:t>
              </a:r>
              <a:endParaRPr lang="fr-FR" b="1" dirty="0">
                <a:ln w="0"/>
                <a:solidFill>
                  <a:schemeClr val="tx1">
                    <a:lumMod val="9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Flèche : droite 42"/>
          <p:cNvSpPr/>
          <p:nvPr/>
        </p:nvSpPr>
        <p:spPr>
          <a:xfrm rot="775498">
            <a:off x="6454956" y="2604822"/>
            <a:ext cx="3870062" cy="236263"/>
          </a:xfrm>
          <a:prstGeom prst="rightArrow">
            <a:avLst/>
          </a:prstGeom>
          <a:noFill/>
          <a:ln w="19050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Organigramme : Alternative 43"/>
          <p:cNvSpPr/>
          <p:nvPr/>
        </p:nvSpPr>
        <p:spPr>
          <a:xfrm rot="742567">
            <a:off x="6575037" y="2021491"/>
            <a:ext cx="1095693" cy="305597"/>
          </a:xfrm>
          <a:prstGeom prst="flowChartAlternateProcess">
            <a:avLst/>
          </a:prstGeom>
          <a:solidFill>
            <a:schemeClr val="tx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Requête</a:t>
            </a:r>
            <a:endParaRPr lang="fr-FR" dirty="0"/>
          </a:p>
        </p:txBody>
      </p:sp>
      <p:grpSp>
        <p:nvGrpSpPr>
          <p:cNvPr id="46" name="Groupe 45"/>
          <p:cNvGrpSpPr/>
          <p:nvPr/>
        </p:nvGrpSpPr>
        <p:grpSpPr>
          <a:xfrm>
            <a:off x="10367792" y="2873805"/>
            <a:ext cx="1857155" cy="2780858"/>
            <a:chOff x="10367792" y="2873805"/>
            <a:chExt cx="1857155" cy="2780858"/>
          </a:xfrm>
        </p:grpSpPr>
        <p:pic>
          <p:nvPicPr>
            <p:cNvPr id="47" name="Image 4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7792" y="2873805"/>
              <a:ext cx="1483918" cy="2086759"/>
            </a:xfrm>
            <a:prstGeom prst="rect">
              <a:avLst/>
            </a:prstGeom>
          </p:spPr>
        </p:pic>
        <p:sp>
          <p:nvSpPr>
            <p:cNvPr id="48" name="ZoneTexte 47"/>
            <p:cNvSpPr txBox="1"/>
            <p:nvPr/>
          </p:nvSpPr>
          <p:spPr>
            <a:xfrm>
              <a:off x="10375608" y="5008332"/>
              <a:ext cx="18493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reflection blurRad="6350" stA="53000" endA="300" endPos="35500" dir="5400000" sy="-90000" algn="bl" rotWithShape="0"/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Serveur de base de données</a:t>
              </a:r>
              <a:endParaRPr lang="fr-FR" b="1" dirty="0">
                <a:ln w="0"/>
                <a:solidFill>
                  <a:schemeClr val="tx1">
                    <a:lumMod val="9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Flèche : droite 48"/>
          <p:cNvSpPr/>
          <p:nvPr/>
        </p:nvSpPr>
        <p:spPr>
          <a:xfrm rot="9761665">
            <a:off x="6496120" y="5361489"/>
            <a:ext cx="3960710" cy="221343"/>
          </a:xfrm>
          <a:prstGeom prst="rightArrow">
            <a:avLst/>
          </a:prstGeom>
          <a:noFill/>
          <a:ln w="19050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Organigramme : Alternative 49"/>
          <p:cNvSpPr/>
          <p:nvPr/>
        </p:nvSpPr>
        <p:spPr>
          <a:xfrm rot="20540565">
            <a:off x="9220399" y="4657874"/>
            <a:ext cx="1095693" cy="305597"/>
          </a:xfrm>
          <a:prstGeom prst="flowChartAlternateProcess">
            <a:avLst/>
          </a:prstGeom>
          <a:solidFill>
            <a:schemeClr val="tx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Requête</a:t>
            </a:r>
            <a:endParaRPr lang="fr-FR" dirty="0"/>
          </a:p>
        </p:txBody>
      </p:sp>
      <p:grpSp>
        <p:nvGrpSpPr>
          <p:cNvPr id="51" name="Groupe 50"/>
          <p:cNvGrpSpPr/>
          <p:nvPr/>
        </p:nvGrpSpPr>
        <p:grpSpPr>
          <a:xfrm>
            <a:off x="5355416" y="5107614"/>
            <a:ext cx="1954137" cy="1564337"/>
            <a:chOff x="5355416" y="5107614"/>
            <a:chExt cx="1954137" cy="1564337"/>
          </a:xfrm>
        </p:grpSpPr>
        <p:pic>
          <p:nvPicPr>
            <p:cNvPr id="52" name="Image 5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3617" y="5107614"/>
              <a:ext cx="867744" cy="1333993"/>
            </a:xfrm>
            <a:prstGeom prst="rect">
              <a:avLst/>
            </a:prstGeom>
          </p:spPr>
        </p:pic>
        <p:sp>
          <p:nvSpPr>
            <p:cNvPr id="53" name="ZoneTexte 52"/>
            <p:cNvSpPr txBox="1"/>
            <p:nvPr/>
          </p:nvSpPr>
          <p:spPr>
            <a:xfrm>
              <a:off x="5355416" y="6302619"/>
              <a:ext cx="1954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reflection blurRad="6350" stA="53000" endA="300" endPos="35500" dir="5400000" sy="-90000" algn="bl" rotWithShape="0"/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Base de données</a:t>
              </a:r>
              <a:endParaRPr lang="fr-FR" b="1" dirty="0">
                <a:ln w="0"/>
                <a:solidFill>
                  <a:schemeClr val="tx1">
                    <a:lumMod val="9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4" name="Flèche : droite 53"/>
          <p:cNvSpPr/>
          <p:nvPr/>
        </p:nvSpPr>
        <p:spPr>
          <a:xfrm rot="20540032">
            <a:off x="6553529" y="4768692"/>
            <a:ext cx="3846364" cy="174989"/>
          </a:xfrm>
          <a:prstGeom prst="rightArrow">
            <a:avLst/>
          </a:prstGeom>
          <a:noFill/>
          <a:ln w="19050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Organigramme : Alternative 54"/>
          <p:cNvSpPr/>
          <p:nvPr/>
        </p:nvSpPr>
        <p:spPr>
          <a:xfrm rot="20576744">
            <a:off x="6599883" y="4866240"/>
            <a:ext cx="1095693" cy="305597"/>
          </a:xfrm>
          <a:prstGeom prst="flowChartAlternateProcess">
            <a:avLst/>
          </a:prstGeom>
          <a:solidFill>
            <a:schemeClr val="tx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Réponse</a:t>
            </a:r>
            <a:endParaRPr lang="fr-FR" dirty="0"/>
          </a:p>
        </p:txBody>
      </p:sp>
      <p:sp>
        <p:nvSpPr>
          <p:cNvPr id="56" name="Flèche : droite 55"/>
          <p:cNvSpPr/>
          <p:nvPr/>
        </p:nvSpPr>
        <p:spPr>
          <a:xfrm rot="11631440">
            <a:off x="6286674" y="3152646"/>
            <a:ext cx="3961417" cy="172802"/>
          </a:xfrm>
          <a:prstGeom prst="rightArrow">
            <a:avLst/>
          </a:prstGeom>
          <a:noFill/>
          <a:ln w="19050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Organigramme : Alternative 56"/>
          <p:cNvSpPr/>
          <p:nvPr/>
        </p:nvSpPr>
        <p:spPr>
          <a:xfrm rot="802205">
            <a:off x="9186735" y="3198290"/>
            <a:ext cx="1095693" cy="305597"/>
          </a:xfrm>
          <a:prstGeom prst="flowChartAlternateProcess">
            <a:avLst/>
          </a:prstGeom>
          <a:solidFill>
            <a:schemeClr val="tx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Réponse</a:t>
            </a:r>
            <a:endParaRPr lang="fr-FR" dirty="0"/>
          </a:p>
        </p:txBody>
      </p:sp>
      <p:sp>
        <p:nvSpPr>
          <p:cNvPr id="58" name="Flèche : droite 57"/>
          <p:cNvSpPr/>
          <p:nvPr/>
        </p:nvSpPr>
        <p:spPr>
          <a:xfrm rot="9719102">
            <a:off x="2611183" y="3224434"/>
            <a:ext cx="2993691" cy="193772"/>
          </a:xfrm>
          <a:prstGeom prst="rightArrow">
            <a:avLst/>
          </a:prstGeom>
          <a:noFill/>
          <a:ln w="19050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Organigramme : Alternative 58"/>
          <p:cNvSpPr/>
          <p:nvPr/>
        </p:nvSpPr>
        <p:spPr>
          <a:xfrm rot="20498727">
            <a:off x="4348039" y="2660208"/>
            <a:ext cx="1095693" cy="305597"/>
          </a:xfrm>
          <a:prstGeom prst="flowChartAlternateProcess">
            <a:avLst/>
          </a:prstGeom>
          <a:solidFill>
            <a:schemeClr val="tx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Réponse</a:t>
            </a:r>
            <a:endParaRPr lang="fr-FR" dirty="0"/>
          </a:p>
        </p:txBody>
      </p:sp>
      <p:pic>
        <p:nvPicPr>
          <p:cNvPr id="3" name="Image 2" descr="ensp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17345" cy="718185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0.14336 -0.09097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61" y="-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1.85185E-6 L 0.20639 0.08657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12" y="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0"/>
                            </p:stCondLst>
                            <p:childTnLst>
                              <p:par>
                                <p:cTn id="39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00"/>
                            </p:stCondLst>
                            <p:childTnLst>
                              <p:par>
                                <p:cTn id="54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1.11111E-6 L -0.2069 0.11574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52" y="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500"/>
                            </p:stCondLst>
                            <p:childTnLst>
                              <p:par>
                                <p:cTn id="5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90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9000"/>
                            </p:stCondLst>
                            <p:childTnLst>
                              <p:par>
                                <p:cTn id="72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2.96296E-6 L 0.2 -0.11713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00" y="-5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1000"/>
                            </p:stCondLst>
                            <p:childTnLst>
                              <p:par>
                                <p:cTn id="7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1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1500"/>
                            </p:stCondLst>
                            <p:childTnLst>
                              <p:par>
                                <p:cTn id="85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59259E-6 L -0.21849 -0.09722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924" y="-4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3500"/>
                            </p:stCondLst>
                            <p:childTnLst>
                              <p:par>
                                <p:cTn id="8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3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4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4000"/>
                            </p:stCondLst>
                            <p:childTnLst>
                              <p:par>
                                <p:cTn id="98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81481E-6 L -0.13828 0.08148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14" y="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39" grpId="1" animBg="1"/>
      <p:bldP spid="39" grpId="2" animBg="1"/>
      <p:bldP spid="43" grpId="0" animBg="1"/>
      <p:bldP spid="44" grpId="0" animBg="1"/>
      <p:bldP spid="44" grpId="1" animBg="1"/>
      <p:bldP spid="44" grpId="2" animBg="1"/>
      <p:bldP spid="49" grpId="0" animBg="1"/>
      <p:bldP spid="50" grpId="0" animBg="1"/>
      <p:bldP spid="50" grpId="1" animBg="1"/>
      <p:bldP spid="50" grpId="2" animBg="1"/>
      <p:bldP spid="54" grpId="0" animBg="1"/>
      <p:bldP spid="55" grpId="0" animBg="1"/>
      <p:bldP spid="55" grpId="1" animBg="1"/>
      <p:bldP spid="55" grpId="2" animBg="1"/>
      <p:bldP spid="56" grpId="0" animBg="1"/>
      <p:bldP spid="57" grpId="0" animBg="1"/>
      <p:bldP spid="57" grpId="1" animBg="1"/>
      <p:bldP spid="57" grpId="2" animBg="1"/>
      <p:bldP spid="58" grpId="0" animBg="1"/>
      <p:bldP spid="59" grpId="0" animBg="1"/>
      <p:bldP spid="59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94510" y="63811"/>
            <a:ext cx="8002980" cy="5061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</a:rPr>
              <a:t> 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2886502" y="934450"/>
            <a:ext cx="6100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</a:rPr>
              <a:t>METHODOLOGIE</a:t>
            </a:r>
            <a:endParaRPr lang="en-US" sz="3600" dirty="0"/>
          </a:p>
        </p:txBody>
      </p:sp>
      <p:sp>
        <p:nvSpPr>
          <p:cNvPr id="6" name="Triangle isocèle 5"/>
          <p:cNvSpPr/>
          <p:nvPr/>
        </p:nvSpPr>
        <p:spPr>
          <a:xfrm rot="5400000">
            <a:off x="926908" y="1792871"/>
            <a:ext cx="260584" cy="304800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486921" y="1760605"/>
            <a:ext cx="27991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dirty="0"/>
              <a:t>Choix des technologies</a:t>
            </a:r>
            <a:endParaRPr lang="fr-FR" dirty="0"/>
          </a:p>
          <a:p>
            <a:pPr algn="ctr"/>
            <a:endParaRPr lang="fr-FR" dirty="0"/>
          </a:p>
        </p:txBody>
      </p:sp>
      <p:pic>
        <p:nvPicPr>
          <p:cNvPr id="9" name="Picture 14334"/>
          <p:cNvPicPr/>
          <p:nvPr/>
        </p:nvPicPr>
        <p:blipFill>
          <a:blip r:embed="rId1"/>
          <a:stretch>
            <a:fillRect/>
          </a:stretch>
        </p:blipFill>
        <p:spPr>
          <a:xfrm>
            <a:off x="3357883" y="3106203"/>
            <a:ext cx="2019916" cy="755650"/>
          </a:xfrm>
          <a:prstGeom prst="rect">
            <a:avLst/>
          </a:prstGeom>
        </p:spPr>
      </p:pic>
      <p:pic>
        <p:nvPicPr>
          <p:cNvPr id="11" name="Picture 14336"/>
          <p:cNvPicPr/>
          <p:nvPr/>
        </p:nvPicPr>
        <p:blipFill>
          <a:blip r:embed="rId2"/>
          <a:stretch>
            <a:fillRect/>
          </a:stretch>
        </p:blipFill>
        <p:spPr>
          <a:xfrm>
            <a:off x="306101" y="3085640"/>
            <a:ext cx="2198137" cy="936199"/>
          </a:xfrm>
          <a:prstGeom prst="rect">
            <a:avLst/>
          </a:prstGeom>
        </p:spPr>
      </p:pic>
      <p:pic>
        <p:nvPicPr>
          <p:cNvPr id="16" name="Picture 14759"/>
          <p:cNvPicPr/>
          <p:nvPr/>
        </p:nvPicPr>
        <p:blipFill>
          <a:blip r:embed="rId3"/>
          <a:stretch>
            <a:fillRect/>
          </a:stretch>
        </p:blipFill>
        <p:spPr>
          <a:xfrm>
            <a:off x="5936776" y="4418919"/>
            <a:ext cx="3295015" cy="1332230"/>
          </a:xfrm>
          <a:prstGeom prst="rect">
            <a:avLst/>
          </a:prstGeom>
        </p:spPr>
      </p:pic>
      <p:pic>
        <p:nvPicPr>
          <p:cNvPr id="17" name="Picture 14884"/>
          <p:cNvPicPr/>
          <p:nvPr/>
        </p:nvPicPr>
        <p:blipFill>
          <a:blip r:embed="rId4"/>
          <a:stretch>
            <a:fillRect/>
          </a:stretch>
        </p:blipFill>
        <p:spPr>
          <a:xfrm>
            <a:off x="10065645" y="4681472"/>
            <a:ext cx="1612265" cy="129222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564" y="4767752"/>
            <a:ext cx="2169235" cy="1323975"/>
          </a:xfrm>
          <a:prstGeom prst="rect">
            <a:avLst/>
          </a:prstGeom>
        </p:spPr>
      </p:pic>
      <p:pic>
        <p:nvPicPr>
          <p:cNvPr id="10" name="Image 9" descr="ensp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605915" cy="718185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  <p:pic>
        <p:nvPicPr>
          <p:cNvPr id="15" name="Image 14" descr="logodock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3685" y="3085465"/>
            <a:ext cx="2363470" cy="1035050"/>
          </a:xfrm>
          <a:prstGeom prst="rect">
            <a:avLst/>
          </a:prstGeom>
        </p:spPr>
      </p:pic>
      <p:pic>
        <p:nvPicPr>
          <p:cNvPr id="19" name="Image 18" descr="antigravity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580" y="4785995"/>
            <a:ext cx="2200275" cy="13411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b="1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</a:t>
            </a:r>
            <a:endParaRPr lang="fr-FR" sz="4400" b="1" dirty="0">
              <a:ln>
                <a:solidFill>
                  <a:sysClr val="windowText" lastClr="000000"/>
                </a:solidFill>
              </a:ln>
              <a:solidFill>
                <a:srgbClr val="2FB8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0877" y="1914676"/>
            <a:ext cx="3644123" cy="3189789"/>
          </a:xfrm>
          <a:prstGeom prst="rect">
            <a:avLst/>
          </a:prstGeom>
        </p:spPr>
      </p:pic>
      <p:sp>
        <p:nvSpPr>
          <p:cNvPr id="4" name="Rectangle à coins arrondis 3"/>
          <p:cNvSpPr/>
          <p:nvPr/>
        </p:nvSpPr>
        <p:spPr>
          <a:xfrm>
            <a:off x="602665" y="5104465"/>
            <a:ext cx="10195035" cy="149603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</a:t>
            </a:r>
            <a:endParaRPr lang="fr-FR" sz="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66" y="2287277"/>
            <a:ext cx="2247900" cy="22479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919387" y="38674"/>
            <a:ext cx="8002980" cy="446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</a:rPr>
              <a:t> 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2" name="Image 11" descr="ensp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5915" cy="718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5307724" y="2144110"/>
            <a:ext cx="3786335" cy="4193628"/>
          </a:xfrm>
          <a:prstGeom prst="rect">
            <a:avLst/>
          </a:prstGeom>
          <a:solidFill>
            <a:srgbClr val="6699FF"/>
          </a:solidFill>
          <a:ln>
            <a:solidFill>
              <a:srgbClr val="66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75053" y="2857913"/>
            <a:ext cx="8911687" cy="1280890"/>
          </a:xfrm>
        </p:spPr>
        <p:txBody>
          <a:bodyPr>
            <a:noAutofit/>
          </a:bodyPr>
          <a:lstStyle/>
          <a:p>
            <a:pPr lvl="2" algn="l"/>
            <a:r>
              <a:rPr lang="fr-FR" sz="2400" dirty="0">
                <a:solidFill>
                  <a:schemeClr val="tx1"/>
                </a:solidFill>
              </a:rPr>
              <a:t>CAHIER DES CHARGES</a:t>
            </a:r>
            <a:br>
              <a:rPr lang="fr-FR" sz="2400" dirty="0">
                <a:solidFill>
                  <a:schemeClr val="tx1"/>
                </a:solidFill>
              </a:rPr>
            </a:br>
            <a:br>
              <a:rPr lang="fr-FR" sz="2400" dirty="0">
                <a:solidFill>
                  <a:schemeClr val="tx1"/>
                </a:solidFill>
              </a:rPr>
            </a:br>
            <a:r>
              <a:rPr lang="fr-FR" sz="2400" dirty="0">
                <a:solidFill>
                  <a:schemeClr val="tx1"/>
                </a:solidFill>
              </a:rPr>
              <a:t>ANALYSE ET CONCEPTION</a:t>
            </a:r>
            <a:br>
              <a:rPr lang="fr-FR" sz="2400" dirty="0">
                <a:solidFill>
                  <a:schemeClr val="tx1"/>
                </a:solidFill>
              </a:rPr>
            </a:br>
            <a:br>
              <a:rPr lang="fr-FR" sz="2400" dirty="0">
                <a:solidFill>
                  <a:schemeClr val="tx1"/>
                </a:solidFill>
              </a:rPr>
            </a:br>
            <a:r>
              <a:rPr lang="fr-FR" sz="2400" dirty="0">
                <a:solidFill>
                  <a:schemeClr val="tx1"/>
                </a:solidFill>
              </a:rPr>
              <a:t>REALISATION</a:t>
            </a:r>
            <a:endParaRPr lang="fr-FR" sz="24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36661" y="2857863"/>
            <a:ext cx="536027" cy="3196884"/>
          </a:xfrm>
          <a:prstGeom prst="rect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6932930" y="2933065"/>
            <a:ext cx="535940" cy="319722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8028940" y="3090545"/>
            <a:ext cx="535940" cy="297243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460278" y="2948818"/>
            <a:ext cx="486555" cy="36786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/>
          <p:cNvSpPr/>
          <p:nvPr/>
        </p:nvSpPr>
        <p:spPr>
          <a:xfrm>
            <a:off x="474388" y="3672965"/>
            <a:ext cx="486555" cy="36786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/>
          <p:cNvSpPr/>
          <p:nvPr/>
        </p:nvSpPr>
        <p:spPr>
          <a:xfrm>
            <a:off x="488498" y="4358788"/>
            <a:ext cx="486555" cy="367862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5514340" y="2227580"/>
            <a:ext cx="3373755" cy="44386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100</a:t>
            </a:r>
            <a:r>
              <a:rPr lang="en-US" dirty="0">
                <a:solidFill>
                  <a:schemeClr val="bg1"/>
                </a:solidFill>
              </a:rPr>
              <a:t>%	       </a:t>
            </a:r>
            <a:r>
              <a:rPr lang="fr-FR" altLang="en-US" dirty="0">
                <a:solidFill>
                  <a:schemeClr val="bg1"/>
                </a:solidFill>
              </a:rPr>
              <a:t>     95</a:t>
            </a:r>
            <a:r>
              <a:rPr lang="en-US" dirty="0">
                <a:solidFill>
                  <a:schemeClr val="bg1"/>
                </a:solidFill>
              </a:rPr>
              <a:t>%	       </a:t>
            </a:r>
            <a:r>
              <a:rPr lang="fr-FR" altLang="en-US" dirty="0">
                <a:solidFill>
                  <a:schemeClr val="bg1"/>
                </a:solidFill>
              </a:rPr>
              <a:t>80</a:t>
            </a:r>
            <a:r>
              <a:rPr lang="en-US" dirty="0">
                <a:solidFill>
                  <a:schemeClr val="bg1"/>
                </a:solidFill>
              </a:rPr>
              <a:t>%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218846" y="137211"/>
            <a:ext cx="8002980" cy="426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</a:rPr>
              <a:t> 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Titre 1"/>
          <p:cNvSpPr txBox="1"/>
          <p:nvPr/>
        </p:nvSpPr>
        <p:spPr>
          <a:xfrm>
            <a:off x="852170" y="1821180"/>
            <a:ext cx="8911590" cy="1955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fr-F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itre 1"/>
          <p:cNvSpPr txBox="1"/>
          <p:nvPr/>
        </p:nvSpPr>
        <p:spPr>
          <a:xfrm>
            <a:off x="3505738" y="842909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4400" b="1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ETAT D’AVANCEMENT</a:t>
            </a:r>
            <a:endParaRPr lang="fr-FR" sz="4400" b="1" dirty="0">
              <a:ln>
                <a:solidFill>
                  <a:sysClr val="windowText" lastClr="000000"/>
                </a:solidFill>
              </a:ln>
              <a:solidFill>
                <a:srgbClr val="2FB8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 descr="ensp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41475" cy="718185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b="1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GENERALE</a:t>
            </a:r>
            <a:endParaRPr lang="fr-FR" sz="4400" b="1" dirty="0">
              <a:ln>
                <a:solidFill>
                  <a:sysClr val="windowText" lastClr="000000"/>
                </a:solidFill>
              </a:ln>
              <a:solidFill>
                <a:srgbClr val="2FB8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797" y="1940767"/>
            <a:ext cx="2247900" cy="2019300"/>
          </a:xfrm>
          <a:prstGeom prst="rect">
            <a:avLst/>
          </a:prstGeom>
        </p:spPr>
      </p:pic>
      <p:sp>
        <p:nvSpPr>
          <p:cNvPr id="6" name="Organigramme : Extraire 5"/>
          <p:cNvSpPr/>
          <p:nvPr/>
        </p:nvSpPr>
        <p:spPr>
          <a:xfrm rot="5400000">
            <a:off x="3708808" y="2015360"/>
            <a:ext cx="451945" cy="520262"/>
          </a:xfrm>
          <a:prstGeom prst="flowChartExtra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4418348" y="1883123"/>
            <a:ext cx="3762703" cy="70944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Perspectives d’avenir</a:t>
            </a:r>
            <a:endParaRPr lang="fr-FR" dirty="0"/>
          </a:p>
        </p:txBody>
      </p:sp>
      <p:pic>
        <p:nvPicPr>
          <p:cNvPr id="9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5190" y="4074992"/>
            <a:ext cx="2984500" cy="22352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032747" y="115009"/>
            <a:ext cx="8002980" cy="3645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156697" y="2924628"/>
            <a:ext cx="520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</a:t>
            </a:r>
            <a:endParaRPr lang="en-US" dirty="0"/>
          </a:p>
        </p:txBody>
      </p:sp>
      <p:pic>
        <p:nvPicPr>
          <p:cNvPr id="12" name="Image 11" descr="ensp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18615" cy="718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094510" y="62258"/>
            <a:ext cx="8002980" cy="423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u="sng" dirty="0">
              <a:solidFill>
                <a:srgbClr val="000000"/>
              </a:solidFill>
              <a:latin typeface="Copperplate Gothic Bold" panose="020E0705020206020404" pitchFamily="34" charset="0"/>
              <a:ea typeface="Times New Roman" panose="02020603050405020304" pitchFamily="18" charset="0"/>
              <a:sym typeface="+mn-ea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  <a:sym typeface="+mn-ea"/>
              </a:rPr>
              <a:t>CONCEPTION ET REALISATION D’UNE APPLICATION  WEB D’E-VISA AVEC SYSTEME BIOMETRIQUE POUR LA REPUBLIQUE DU CAMEROUN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r>
              <a:rPr lang="fr-FR" sz="1400" u="sng" dirty="0">
                <a:solidFill>
                  <a:srgbClr val="000000"/>
                </a:solidFill>
                <a:latin typeface="Copperplate Gothic Bold" panose="020E0705020206020404" pitchFamily="34" charset="0"/>
                <a:ea typeface="Times New Roman" panose="02020603050405020304" pitchFamily="18" charset="0"/>
              </a:rPr>
              <a:t> 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36195" indent="-6350" algn="ctr">
              <a:lnSpc>
                <a:spcPct val="110000"/>
              </a:lnSpc>
              <a:spcAft>
                <a:spcPts val="25"/>
              </a:spcAft>
            </a:pPr>
            <a:endParaRPr lang="fr-FR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itre 1"/>
          <p:cNvSpPr txBox="1"/>
          <p:nvPr/>
        </p:nvSpPr>
        <p:spPr>
          <a:xfrm>
            <a:off x="1771277" y="1840230"/>
            <a:ext cx="8911687" cy="5017770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7200" dirty="0">
                <a:ln>
                  <a:solidFill>
                    <a:sysClr val="windowText" lastClr="000000"/>
                  </a:solidFill>
                </a:ln>
                <a:solidFill>
                  <a:srgbClr val="2FB8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MERCI POUR VOTRE AIMABLE ATTENTION</a:t>
            </a:r>
            <a:endParaRPr lang="fr-FR" sz="7200" dirty="0">
              <a:ln>
                <a:solidFill>
                  <a:sysClr val="windowText" lastClr="000000"/>
                </a:solidFill>
              </a:ln>
              <a:solidFill>
                <a:srgbClr val="2FB8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 descr="ensp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17345" cy="718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8040" y="0"/>
            <a:ext cx="1204595" cy="718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6550</Words>
  <Application>WPS Presentation</Application>
  <PresentationFormat>Grand écran</PresentationFormat>
  <Paragraphs>372</Paragraphs>
  <Slides>25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7" baseType="lpstr">
      <vt:lpstr>Arial</vt:lpstr>
      <vt:lpstr>SimSun</vt:lpstr>
      <vt:lpstr>Wingdings</vt:lpstr>
      <vt:lpstr>Wingdings 3</vt:lpstr>
      <vt:lpstr>Symbol</vt:lpstr>
      <vt:lpstr>Arial</vt:lpstr>
      <vt:lpstr>Algerian</vt:lpstr>
      <vt:lpstr>Gabriola</vt:lpstr>
      <vt:lpstr>Times New Roman</vt:lpstr>
      <vt:lpstr>Calibri</vt:lpstr>
      <vt:lpstr>Copperplate Gothic Bold</vt:lpstr>
      <vt:lpstr>Segoe Print</vt:lpstr>
      <vt:lpstr>Calibri</vt:lpstr>
      <vt:lpstr>Microsoft YaHei</vt:lpstr>
      <vt:lpstr>Arial Unicode MS</vt:lpstr>
      <vt:lpstr>Century Gothic</vt:lpstr>
      <vt:lpstr>Tw Cen MT</vt:lpstr>
      <vt:lpstr>Noto Sans</vt:lpstr>
      <vt:lpstr>Sans Serif Collection</vt:lpstr>
      <vt:lpstr>Noto Sans Disp ExtBd</vt:lpstr>
      <vt:lpstr>Yu Gothic UI Semibold</vt:lpstr>
      <vt:lpstr>Brin</vt:lpstr>
      <vt:lpstr>PowerPoint 演示文稿</vt:lpstr>
      <vt:lpstr> Stage Effectué du 02  FEVRIER au 03 JUILLET 2026, En vue de l’obtention du Diplôme d’Ingenieur de l’Ecole Nationale S uperieure Polytechnique de Douala   RÉDIGÉ PAR: MESSANGA Charles Perig</vt:lpstr>
      <vt:lpstr>PLAN DE L’EXPOSE</vt:lpstr>
      <vt:lpstr>INTRODUCTION GENERALE</vt:lpstr>
      <vt:lpstr>PRÉSENTATION DE L’ENTREPRISE</vt:lpstr>
      <vt:lpstr>PowerPoint 演示文稿</vt:lpstr>
      <vt:lpstr>PowerPoint 演示文稿</vt:lpstr>
      <vt:lpstr>CONTEXTE &amp; JUSTIFICATIFS</vt:lpstr>
      <vt:lpstr>PROBLEMATIQUE</vt:lpstr>
      <vt:lpstr>OBJECTIFS</vt:lpstr>
      <vt:lpstr>METHODOLOGIE</vt:lpstr>
      <vt:lpstr>METHODOLOGIE</vt:lpstr>
      <vt:lpstr>ACTEURS DU SYSTEME</vt:lpstr>
      <vt:lpstr>PowerPoint 演示文稿</vt:lpstr>
      <vt:lpstr>PowerPoint 演示文稿</vt:lpstr>
      <vt:lpstr>METHODOLOGIE: Diagramme de cas d’utilisation global </vt:lpstr>
      <vt:lpstr>METHODOLOGIE: DiagrammeS de séquence authentification 2FA et soumettre la demande d’e-visa   </vt:lpstr>
      <vt:lpstr>METHODOLOGIE: Diagramme de classe </vt:lpstr>
      <vt:lpstr>PowerPoint 演示文稿</vt:lpstr>
      <vt:lpstr>PowerPoint 演示文稿</vt:lpstr>
      <vt:lpstr>PowerPoint 演示文稿</vt:lpstr>
      <vt:lpstr>DEMONSTRATION</vt:lpstr>
      <vt:lpstr>CAHIER DES CHARGES  ANALYSE ET CONCEPTION  REALISATION</vt:lpstr>
      <vt:lpstr>CONCLUSION GENERALE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VICTORIOUS</dc:creator>
  <cp:lastModifiedBy>Perig Messanga</cp:lastModifiedBy>
  <cp:revision>137</cp:revision>
  <dcterms:created xsi:type="dcterms:W3CDTF">2019-09-08T18:55:00Z</dcterms:created>
  <dcterms:modified xsi:type="dcterms:W3CDTF">2026-05-04T15:31:08Z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76672A1C888C42E9AA49720A3E0302ED_12</vt:lpwstr>
  </property>
  <property fmtid="{D5CDD505-2E9C-101B-9397-08002B2CF9AE}" pid="3" name="KSOProductBuildVer">
    <vt:lpwstr>1036-12.2.0.23196</vt:lpwstr>
  </property>
</Properties>
</file>